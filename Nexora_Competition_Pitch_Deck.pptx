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1" d="100"/>
          <a:sy n="61" d="100"/>
        </p:scale>
        <p:origin x="8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Nexora repository https://github.com/Umama2007/Nexora and user-supplied product screenshots. Cover uses the supplied landing-page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Nexora repository https://github.com/Umama2007/Nexora and user-supplied product screenshots.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Nexora repository https://github.com/Umama2007/Nexora and user-supplied product screenshots.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Nexora repository https://github.com/Umama2007/Nexora and user-supplied product screenshots.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Nexora repository https://github.com/Umama2007/Nexora and user-supplied product screenshots.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Nexora repository https://github.com/Umama2007/Nexora and user-supplied product screenshots. Screenshots show the analysis-results and mock-interview mode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Nexora repository https://github.com/Umama2007/Nexora and user-supplied product screenshots. Architecture verified from README.md, backend/app/main.py, backend/app/core, frontend package and service files, Vite config, and Procfile.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Nexora repository https://github.com/Umama2007/Nexora and user-supplied product screenshots. Single call and cache behavior verified by backend/app/api/resume.py, backend/app/main.py, and backend/app/test_upload_pipeline.py.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Nexora repository https://github.com/Umama2007/Nexora and user-supplied product screenshots.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Nexora repository https://github.com/Umama2007/Nexora and user-supplied product screenshots. Live app: https://nexora-blue-rho.vercel.app/  GitHub: https://github.com/Umama2007/Nexora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A6A65BF-A956-4720-9155-B924474A97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16A36A"/>
          </a:solidFill>
          <a:ln w="0">
            <a:solidFill>
              <a:srgbClr val="16A36A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80FC5F-0364-4A0B-81B4-748C842933EB}"/>
              </a:ext>
            </a:extLst>
          </p:cNvPr>
          <p:cNvSpPr>
            <a:spLocks noGrp="1"/>
          </p:cNvSpPr>
          <p:nvPr/>
        </p:nvSpPr>
        <p:spPr>
          <a:xfrm>
            <a:off x="704850" y="533400"/>
            <a:ext cx="2667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NEXORA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9F7017-F242-450F-BC1A-1B852B2E2C32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5334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46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46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Nexora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3FB0A5-AE64-46FC-A7DB-8C24044377FC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5715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09"/>
          </a:bodyPr>
          <a:lstStyle/>
          <a:p>
            <a:pPr algn="l">
              <a:defRPr sz="2025" b="0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AI-powered resume analysis and interview preparation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F934F1-50CC-4E8B-B9C2-9001B7768E44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5381625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617084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617084"/>
                </a:solidFill>
                <a:latin typeface="Nimbus Sans"/>
                <a:ea typeface="Nimbus Sans"/>
                <a:cs typeface="Nimbus Sans"/>
              </a:rPr>
              <a:t>Turn a target role into clear resume improvements and focused interview practice.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8515778-0C00-4D40-B67F-F98B8C57B39D}"/>
              </a:ext>
            </a:extLst>
          </p:cNvPr>
          <p:cNvSpPr>
            <a:spLocks noGrp="1"/>
          </p:cNvSpPr>
          <p:nvPr/>
        </p:nvSpPr>
        <p:spPr>
          <a:xfrm>
            <a:off x="742950" y="4457700"/>
            <a:ext cx="1714500" cy="323850"/>
          </a:xfrm>
          <a:prstGeom prst="roundRect">
            <a:avLst>
              <a:gd name="adj" fmla="val 35294"/>
            </a:avLst>
          </a:prstGeom>
          <a:solidFill>
            <a:srgbClr val="EAF8F1"/>
          </a:solidFill>
          <a:ln w="9525">
            <a:solidFill>
              <a:srgbClr val="EAF8F1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001975-530F-414C-BDCC-38A66CC9BD5F}"/>
              </a:ext>
            </a:extLst>
          </p:cNvPr>
          <p:cNvSpPr>
            <a:spLocks noGrp="1"/>
          </p:cNvSpPr>
          <p:nvPr/>
        </p:nvSpPr>
        <p:spPr>
          <a:xfrm>
            <a:off x="838200" y="447675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/>
          </a:bodyPr>
          <a:lstStyle/>
          <a:p>
            <a:pPr algn="ctr">
              <a:def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CAREER ASSISTANT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rcRect l="25567" r="25567"/>
          <a:stretch>
            <a:fillRect/>
          </a:stretch>
        </p:blipFill>
        <p:spPr>
          <a:xfrm>
            <a:off x="9326601" y="3525519"/>
            <a:ext cx="546252" cy="71121"/>
          </a:xfrm>
          <a:prstGeom prst="roundRect">
            <a:avLst>
              <a:gd name="adj" fmla="val 0"/>
            </a:avLst>
          </a:prstGeom>
        </p:spPr>
      </p:pic>
      <p:sp>
        <p:nvSpPr>
          <p:cNvPr id="8" name="AutoShape 2" descr="1000605394.jpg"/>
          <p:cNvSpPr>
            <a:spLocks noChangeAspect="1" noChangeArrowheads="1"/>
          </p:cNvSpPr>
          <p:nvPr/>
        </p:nvSpPr>
        <p:spPr bwMode="auto">
          <a:xfrm>
            <a:off x="250395" y="1157"/>
            <a:ext cx="159180" cy="159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950" y="1619250"/>
            <a:ext cx="5597416" cy="370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87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12436265-F4FA-4F0E-A2AC-52580FB8B287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522C2C-2327-4F59-B667-DBF2A609564D}"/>
              </a:ext>
            </a:extLst>
          </p:cNvPr>
          <p:cNvSpPr>
            <a:spLocks noGrp="1"/>
          </p:cNvSpPr>
          <p:nvPr/>
        </p:nvSpPr>
        <p:spPr>
          <a:xfrm>
            <a:off x="952500" y="276225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 algn="l">
              <a:def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The gap between applying and understanding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339775F-293B-4E33-B88A-118E556BAFD7}"/>
              </a:ext>
            </a:extLst>
          </p:cNvPr>
          <p:cNvSpPr>
            <a:spLocks noGrp="1"/>
          </p:cNvSpPr>
          <p:nvPr/>
        </p:nvSpPr>
        <p:spPr>
          <a:xfrm>
            <a:off x="495300" y="847725"/>
            <a:ext cx="11201400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D40262-BA19-4244-AC13-47344015A3F2}"/>
              </a:ext>
            </a:extLst>
          </p:cNvPr>
          <p:cNvSpPr>
            <a:spLocks noGrp="1"/>
          </p:cNvSpPr>
          <p:nvPr/>
        </p:nvSpPr>
        <p:spPr>
          <a:xfrm>
            <a:off x="666750" y="1095375"/>
            <a:ext cx="5715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167" lnSpcReduction="20000"/>
          </a:bodyPr>
          <a:lstStyle/>
          <a:p>
            <a:pPr algn="l">
              <a:defRPr sz="1875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A job description changes the target. Most candidates still review their resume by instinct.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382F1F-FA3F-461D-924B-44F1DBD68256}"/>
              </a:ext>
            </a:extLst>
          </p:cNvPr>
          <p:cNvSpPr>
            <a:spLocks noGrp="1"/>
          </p:cNvSpPr>
          <p:nvPr/>
        </p:nvSpPr>
        <p:spPr>
          <a:xfrm>
            <a:off x="742950" y="2095500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EA3413-E740-4099-8E1D-2AD0020B8595}"/>
              </a:ext>
            </a:extLst>
          </p:cNvPr>
          <p:cNvSpPr>
            <a:spLocks noGrp="1"/>
          </p:cNvSpPr>
          <p:nvPr/>
        </p:nvSpPr>
        <p:spPr>
          <a:xfrm>
            <a:off x="1352550" y="2095500"/>
            <a:ext cx="4476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48" lnSpcReduction="10000"/>
          </a:bodyPr>
          <a:lstStyle/>
          <a:p>
            <a:pPr algn="l">
              <a:defRPr sz="16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Rejected without a clear reason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B0BCD2-5E6A-4AF8-BB3D-445962E202E7}"/>
              </a:ext>
            </a:extLst>
          </p:cNvPr>
          <p:cNvSpPr>
            <a:spLocks noGrp="1"/>
          </p:cNvSpPr>
          <p:nvPr/>
        </p:nvSpPr>
        <p:spPr>
          <a:xfrm>
            <a:off x="1352550" y="2419350"/>
            <a:ext cx="4857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rPr>
              <a:t>Candidates cannot see which resume sections weaken their fit.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6AB064-FD64-4553-93C5-7EE96D424521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865E40-6BE8-4C6F-86CD-71B25F4D1E5B}"/>
              </a:ext>
            </a:extLst>
          </p:cNvPr>
          <p:cNvSpPr>
            <a:spLocks noGrp="1"/>
          </p:cNvSpPr>
          <p:nvPr/>
        </p:nvSpPr>
        <p:spPr>
          <a:xfrm>
            <a:off x="1352550" y="3143250"/>
            <a:ext cx="4476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48" lnSpcReduction="10000"/>
          </a:bodyPr>
          <a:lstStyle/>
          <a:p>
            <a:pPr algn="l">
              <a:defRPr sz="16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Manual comparison takes time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3F9F64-B618-460C-8C42-736D3CCD33FB}"/>
              </a:ext>
            </a:extLst>
          </p:cNvPr>
          <p:cNvSpPr>
            <a:spLocks noGrp="1"/>
          </p:cNvSpPr>
          <p:nvPr/>
        </p:nvSpPr>
        <p:spPr>
          <a:xfrm>
            <a:off x="1352550" y="3467100"/>
            <a:ext cx="4857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rPr>
              <a:t>Every application requires another careful resume and role review.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958C58-0048-4689-B4A1-D2182F55D21B}"/>
              </a:ext>
            </a:extLst>
          </p:cNvPr>
          <p:cNvSpPr>
            <a:spLocks noGrp="1"/>
          </p:cNvSpPr>
          <p:nvPr/>
        </p:nvSpPr>
        <p:spPr>
          <a:xfrm>
            <a:off x="742950" y="4191000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C470A6-B075-4DD3-A2E5-E05E1A4D4A16}"/>
              </a:ext>
            </a:extLst>
          </p:cNvPr>
          <p:cNvSpPr>
            <a:spLocks noGrp="1"/>
          </p:cNvSpPr>
          <p:nvPr/>
        </p:nvSpPr>
        <p:spPr>
          <a:xfrm>
            <a:off x="1352550" y="4191000"/>
            <a:ext cx="4476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48" lnSpcReduction="10000"/>
          </a:bodyPr>
          <a:lstStyle/>
          <a:p>
            <a:pPr algn="l">
              <a:defRPr sz="16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Important keywords stay hidden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1D1649-4931-481C-BB15-1599CDAED55B}"/>
              </a:ext>
            </a:extLst>
          </p:cNvPr>
          <p:cNvSpPr>
            <a:spLocks noGrp="1"/>
          </p:cNvSpPr>
          <p:nvPr/>
        </p:nvSpPr>
        <p:spPr>
          <a:xfrm>
            <a:off x="1352550" y="4514850"/>
            <a:ext cx="4857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rPr>
              <a:t>Skills may be present in the role but missing from the resume.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16DF2A-6479-4768-928F-DA53E5C8ABD5}"/>
              </a:ext>
            </a:extLst>
          </p:cNvPr>
          <p:cNvSpPr>
            <a:spLocks noGrp="1"/>
          </p:cNvSpPr>
          <p:nvPr/>
        </p:nvSpPr>
        <p:spPr>
          <a:xfrm>
            <a:off x="742950" y="5238750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240893-3C74-4DD7-98B4-B9CEDDE10711}"/>
              </a:ext>
            </a:extLst>
          </p:cNvPr>
          <p:cNvSpPr>
            <a:spLocks noGrp="1"/>
          </p:cNvSpPr>
          <p:nvPr/>
        </p:nvSpPr>
        <p:spPr>
          <a:xfrm>
            <a:off x="1352550" y="5238750"/>
            <a:ext cx="4476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48" lnSpcReduction="10000"/>
          </a:bodyPr>
          <a:lstStyle/>
          <a:p>
            <a:pPr algn="l">
              <a:defRPr sz="16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Interview preparation starts too late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BEC455-9C52-4608-9601-3122570BE703}"/>
              </a:ext>
            </a:extLst>
          </p:cNvPr>
          <p:cNvSpPr>
            <a:spLocks noGrp="1"/>
          </p:cNvSpPr>
          <p:nvPr/>
        </p:nvSpPr>
        <p:spPr>
          <a:xfrm>
            <a:off x="1352550" y="5562600"/>
            <a:ext cx="4857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rPr>
              <a:t>A better resume still does not reveal likely role-specific questions.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360A2C8-89B4-49D3-80C8-2FEF5404EAFF}"/>
              </a:ext>
            </a:extLst>
          </p:cNvPr>
          <p:cNvSpPr>
            <a:spLocks noGrp="1"/>
          </p:cNvSpPr>
          <p:nvPr/>
        </p:nvSpPr>
        <p:spPr>
          <a:xfrm>
            <a:off x="7000875" y="1447800"/>
            <a:ext cx="4095750" cy="4476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3562D0-E3F6-47F3-9BFC-F64C351B1B51}"/>
              </a:ext>
            </a:extLst>
          </p:cNvPr>
          <p:cNvSpPr>
            <a:spLocks noGrp="1"/>
          </p:cNvSpPr>
          <p:nvPr/>
        </p:nvSpPr>
        <p:spPr>
          <a:xfrm>
            <a:off x="7334250" y="169545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APPLICATION LOOP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7446417-7BA4-4DD4-B274-09C86857C416}"/>
              </a:ext>
            </a:extLst>
          </p:cNvPr>
          <p:cNvSpPr>
            <a:spLocks noGrp="1"/>
          </p:cNvSpPr>
          <p:nvPr/>
        </p:nvSpPr>
        <p:spPr>
          <a:xfrm>
            <a:off x="7524750" y="2238375"/>
            <a:ext cx="3000375" cy="571500"/>
          </a:xfrm>
          <a:prstGeom prst="roundRect">
            <a:avLst>
              <a:gd name="adj" fmla="val 20000"/>
            </a:avLst>
          </a:prstGeom>
          <a:solidFill>
            <a:srgbClr val="EAF8F1"/>
          </a:solidFill>
          <a:ln w="9525">
            <a:solidFill>
              <a:srgbClr val="68D391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0A89FF-BE6A-412B-876C-3D6EFE6C8155}"/>
              </a:ext>
            </a:extLst>
          </p:cNvPr>
          <p:cNvSpPr>
            <a:spLocks noGrp="1"/>
          </p:cNvSpPr>
          <p:nvPr/>
        </p:nvSpPr>
        <p:spPr>
          <a:xfrm>
            <a:off x="7696200" y="2305050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088" lnSpcReduction="10000"/>
          </a:bodyPr>
          <a:lstStyle/>
          <a:p>
            <a:pPr algn="l">
              <a:defRPr sz="1275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Resume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CF7F90-9F81-4159-8C17-FFB47EACB3D8}"/>
              </a:ext>
            </a:extLst>
          </p:cNvPr>
          <p:cNvSpPr>
            <a:spLocks noGrp="1"/>
          </p:cNvSpPr>
          <p:nvPr/>
        </p:nvSpPr>
        <p:spPr>
          <a:xfrm>
            <a:off x="8896350" y="2305050"/>
            <a:ext cx="147637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 algn="l">
              <a:defRPr sz="1050" b="0">
                <a:solidFill>
                  <a:srgbClr val="617084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17084"/>
                </a:solidFill>
                <a:latin typeface="Nimbus Sans"/>
                <a:ea typeface="Nimbus Sans"/>
                <a:cs typeface="Nimbus Sans"/>
              </a:rPr>
              <a:t>What should change?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FB92E22-2764-476D-9F90-88069AD2D000}"/>
              </a:ext>
            </a:extLst>
          </p:cNvPr>
          <p:cNvSpPr>
            <a:spLocks noGrp="1"/>
          </p:cNvSpPr>
          <p:nvPr/>
        </p:nvSpPr>
        <p:spPr>
          <a:xfrm>
            <a:off x="9020175" y="2809875"/>
            <a:ext cx="0" cy="266700"/>
          </a:xfrm>
          <a:prstGeom prst="line">
            <a:avLst/>
          </a:prstGeom>
          <a:noFill/>
          <a:ln w="19050">
            <a:solidFill>
              <a:srgbClr val="16A36A"/>
            </a:solidFill>
          </a:ln>
        </p:spPr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49AC48B-10C5-4954-9073-51932C2619CF}"/>
              </a:ext>
            </a:extLst>
          </p:cNvPr>
          <p:cNvSpPr>
            <a:spLocks noGrp="1"/>
          </p:cNvSpPr>
          <p:nvPr/>
        </p:nvSpPr>
        <p:spPr>
          <a:xfrm>
            <a:off x="7524750" y="3076575"/>
            <a:ext cx="3000375" cy="571500"/>
          </a:xfrm>
          <a:prstGeom prst="roundRect">
            <a:avLst>
              <a:gd name="adj" fmla="val 20000"/>
            </a:avLst>
          </a:prstGeom>
          <a:solidFill>
            <a:srgbClr val="EAF8F1"/>
          </a:solidFill>
          <a:ln w="9525">
            <a:solidFill>
              <a:srgbClr val="68D391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7FA533-5A34-4D79-8995-7DED72A84BFA}"/>
              </a:ext>
            </a:extLst>
          </p:cNvPr>
          <p:cNvSpPr>
            <a:spLocks noGrp="1"/>
          </p:cNvSpPr>
          <p:nvPr/>
        </p:nvSpPr>
        <p:spPr>
          <a:xfrm>
            <a:off x="7696200" y="3143250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088" lnSpcReduction="10000"/>
          </a:bodyPr>
          <a:lstStyle/>
          <a:p>
            <a:pPr algn="l">
              <a:defRPr sz="1275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Job description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01BE167-F0FF-435E-B715-26B912A57C73}"/>
              </a:ext>
            </a:extLst>
          </p:cNvPr>
          <p:cNvSpPr>
            <a:spLocks noGrp="1"/>
          </p:cNvSpPr>
          <p:nvPr/>
        </p:nvSpPr>
        <p:spPr>
          <a:xfrm>
            <a:off x="8896350" y="3143250"/>
            <a:ext cx="147637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617084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17084"/>
                </a:solidFill>
                <a:latin typeface="Nimbus Sans"/>
                <a:ea typeface="Nimbus Sans"/>
                <a:cs typeface="Nimbus Sans"/>
              </a:rPr>
              <a:t>What matters most?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87D3D50F-7757-4F21-B8E6-0AF3B692F63D}"/>
              </a:ext>
            </a:extLst>
          </p:cNvPr>
          <p:cNvSpPr>
            <a:spLocks noGrp="1"/>
          </p:cNvSpPr>
          <p:nvPr/>
        </p:nvSpPr>
        <p:spPr>
          <a:xfrm>
            <a:off x="9020175" y="3648075"/>
            <a:ext cx="0" cy="266700"/>
          </a:xfrm>
          <a:prstGeom prst="line">
            <a:avLst/>
          </a:prstGeom>
          <a:noFill/>
          <a:ln w="19050">
            <a:solidFill>
              <a:srgbClr val="16A36A"/>
            </a:solidFill>
          </a:ln>
        </p:spPr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E74070C-DAFB-43D6-B881-74D83AA708CF}"/>
              </a:ext>
            </a:extLst>
          </p:cNvPr>
          <p:cNvSpPr>
            <a:spLocks noGrp="1"/>
          </p:cNvSpPr>
          <p:nvPr/>
        </p:nvSpPr>
        <p:spPr>
          <a:xfrm>
            <a:off x="7524750" y="3914775"/>
            <a:ext cx="3000375" cy="571500"/>
          </a:xfrm>
          <a:prstGeom prst="roundRect">
            <a:avLst>
              <a:gd name="adj" fmla="val 20000"/>
            </a:avLst>
          </a:prstGeom>
          <a:solidFill>
            <a:srgbClr val="EAF8F1"/>
          </a:solidFill>
          <a:ln w="9525">
            <a:solidFill>
              <a:srgbClr val="68D391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7002EDE-38A4-45FC-B9D9-308827BEA1F3}"/>
              </a:ext>
            </a:extLst>
          </p:cNvPr>
          <p:cNvSpPr>
            <a:spLocks noGrp="1"/>
          </p:cNvSpPr>
          <p:nvPr/>
        </p:nvSpPr>
        <p:spPr>
          <a:xfrm>
            <a:off x="7696200" y="3981450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088" lnSpcReduction="10000"/>
          </a:bodyPr>
          <a:lstStyle/>
          <a:p>
            <a:pPr algn="l">
              <a:defRPr sz="1275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Application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D5FB026-4842-414E-895D-93E5529B024E}"/>
              </a:ext>
            </a:extLst>
          </p:cNvPr>
          <p:cNvSpPr>
            <a:spLocks noGrp="1"/>
          </p:cNvSpPr>
          <p:nvPr/>
        </p:nvSpPr>
        <p:spPr>
          <a:xfrm>
            <a:off x="8896350" y="3981450"/>
            <a:ext cx="147637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617084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17084"/>
                </a:solidFill>
                <a:latin typeface="Nimbus Sans"/>
                <a:ea typeface="Nimbus Sans"/>
                <a:cs typeface="Nimbus Sans"/>
              </a:rPr>
              <a:t>Why no shortlist?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D836C462-091B-47A8-B676-F6ADB3EEF0B5}"/>
              </a:ext>
            </a:extLst>
          </p:cNvPr>
          <p:cNvSpPr>
            <a:spLocks noGrp="1"/>
          </p:cNvSpPr>
          <p:nvPr/>
        </p:nvSpPr>
        <p:spPr>
          <a:xfrm>
            <a:off x="9020175" y="4486275"/>
            <a:ext cx="0" cy="266700"/>
          </a:xfrm>
          <a:prstGeom prst="line">
            <a:avLst/>
          </a:prstGeom>
          <a:noFill/>
          <a:ln w="19050">
            <a:solidFill>
              <a:srgbClr val="16A36A"/>
            </a:solidFill>
          </a:ln>
        </p:spPr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6E6EEB5-8AD2-4FE1-90F9-43EA6D95184A}"/>
              </a:ext>
            </a:extLst>
          </p:cNvPr>
          <p:cNvSpPr>
            <a:spLocks noGrp="1"/>
          </p:cNvSpPr>
          <p:nvPr/>
        </p:nvSpPr>
        <p:spPr>
          <a:xfrm>
            <a:off x="7524750" y="4752975"/>
            <a:ext cx="3000375" cy="571500"/>
          </a:xfrm>
          <a:prstGeom prst="roundRect">
            <a:avLst>
              <a:gd name="adj" fmla="val 20000"/>
            </a:avLst>
          </a:prstGeom>
          <a:solidFill>
            <a:srgbClr val="EAF0FF"/>
          </a:solidFill>
          <a:ln w="9525">
            <a:solidFill>
              <a:srgbClr val="4F6EF7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8505A3-B432-4A96-AC8E-E45C2B803F11}"/>
              </a:ext>
            </a:extLst>
          </p:cNvPr>
          <p:cNvSpPr>
            <a:spLocks noGrp="1"/>
          </p:cNvSpPr>
          <p:nvPr/>
        </p:nvSpPr>
        <p:spPr>
          <a:xfrm>
            <a:off x="7696200" y="4819650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088" lnSpcReduction="10000"/>
          </a:bodyPr>
          <a:lstStyle/>
          <a:p>
            <a:pPr algn="l">
              <a:defRPr sz="1275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Interview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B16142C-5046-417B-AEE6-D3A11ED3E6B5}"/>
              </a:ext>
            </a:extLst>
          </p:cNvPr>
          <p:cNvSpPr>
            <a:spLocks noGrp="1"/>
          </p:cNvSpPr>
          <p:nvPr/>
        </p:nvSpPr>
        <p:spPr>
          <a:xfrm>
            <a:off x="8896350" y="4819650"/>
            <a:ext cx="147637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428"/>
          </a:bodyPr>
          <a:lstStyle/>
          <a:p>
            <a:pPr algn="l">
              <a:defRPr sz="1050" b="0">
                <a:solidFill>
                  <a:srgbClr val="617084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17084"/>
                </a:solidFill>
                <a:latin typeface="Nimbus Sans"/>
                <a:ea typeface="Nimbus Sans"/>
                <a:cs typeface="Nimbus Sans"/>
              </a:rPr>
              <a:t>What should I practise?</a:t>
            </a:r>
          </a:p>
        </p:txBody>
      </p:sp>
    </p:spTree>
    <p:extLst>
      <p:ext uri="{BB962C8B-B14F-4D97-AF65-F5344CB8AC3E}">
        <p14:creationId xmlns:p14="http://schemas.microsoft.com/office/powerpoint/2010/main" val="1221074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2E63EDE-1267-403B-9034-C3F60C64932E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EC18D0-A8F7-4CA5-8615-57C9FC38CE68}"/>
              </a:ext>
            </a:extLst>
          </p:cNvPr>
          <p:cNvSpPr>
            <a:spLocks noGrp="1"/>
          </p:cNvSpPr>
          <p:nvPr/>
        </p:nvSpPr>
        <p:spPr>
          <a:xfrm>
            <a:off x="952500" y="276225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 algn="l">
              <a:def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One guided path from resume to interview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CEBDEECE-EAE5-4062-B0B8-27CBBE0D1865}"/>
              </a:ext>
            </a:extLst>
          </p:cNvPr>
          <p:cNvSpPr>
            <a:spLocks noGrp="1"/>
          </p:cNvSpPr>
          <p:nvPr/>
        </p:nvSpPr>
        <p:spPr>
          <a:xfrm>
            <a:off x="495300" y="847725"/>
            <a:ext cx="11201400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8D4AD4-81B9-4CC9-8320-2789F2E9E6FA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0012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937"/>
          </a:bodyPr>
          <a:lstStyle/>
          <a:p>
            <a:pPr algn="l">
              <a:defRPr sz="1725" b="0">
                <a:solidFill>
                  <a:srgbClr val="617084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617084"/>
                </a:solidFill>
                <a:latin typeface="Nimbus Sans"/>
                <a:ea typeface="Nimbus Sans"/>
                <a:cs typeface="Nimbus Sans"/>
              </a:rPr>
              <a:t>Nexora connects job matching, resume feedback, improvement, and interview practice in one workflow.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109B0FC-CF0E-4F67-BBA9-74E1E6801032}"/>
              </a:ext>
            </a:extLst>
          </p:cNvPr>
          <p:cNvSpPr>
            <a:spLocks noGrp="1"/>
          </p:cNvSpPr>
          <p:nvPr/>
        </p:nvSpPr>
        <p:spPr>
          <a:xfrm>
            <a:off x="552450" y="2143125"/>
            <a:ext cx="2000250" cy="2143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B648AE-1956-4911-A1BA-8B8D605B2633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2897DA-0CB1-44E7-A6D9-A10FD0417717}"/>
              </a:ext>
            </a:extLst>
          </p:cNvPr>
          <p:cNvSpPr>
            <a:spLocks noGrp="1"/>
          </p:cNvSpPr>
          <p:nvPr/>
        </p:nvSpPr>
        <p:spPr>
          <a:xfrm>
            <a:off x="742950" y="2857500"/>
            <a:ext cx="1619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194" lnSpcReduction="10000"/>
          </a:bodyPr>
          <a:lstStyle/>
          <a:p>
            <a:pPr algn="l">
              <a:defRPr sz="180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Upload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E322F0-7DB7-47DD-A26D-77ABBE10F50C}"/>
              </a:ext>
            </a:extLst>
          </p:cNvPr>
          <p:cNvSpPr>
            <a:spLocks noGrp="1"/>
          </p:cNvSpPr>
          <p:nvPr/>
        </p:nvSpPr>
        <p:spPr>
          <a:xfrm>
            <a:off x="742950" y="3286125"/>
            <a:ext cx="1619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rPr>
              <a:t>PDF or DOCX resume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3C11973-4DA8-4ECE-8088-718746674B3E}"/>
              </a:ext>
            </a:extLst>
          </p:cNvPr>
          <p:cNvSpPr>
            <a:spLocks noGrp="1"/>
          </p:cNvSpPr>
          <p:nvPr/>
        </p:nvSpPr>
        <p:spPr>
          <a:xfrm>
            <a:off x="2552700" y="3209925"/>
            <a:ext cx="304800" cy="361950"/>
          </a:xfrm>
          <a:prstGeom prst="line">
            <a:avLst/>
          </a:prstGeom>
          <a:noFill/>
          <a:ln w="19050">
            <a:solidFill>
              <a:srgbClr val="16A36A"/>
            </a:solidFill>
          </a:ln>
        </p:spPr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BBC055D-E9B5-48F9-BB16-B7B36F629AF1}"/>
              </a:ext>
            </a:extLst>
          </p:cNvPr>
          <p:cNvSpPr>
            <a:spLocks noGrp="1"/>
          </p:cNvSpPr>
          <p:nvPr/>
        </p:nvSpPr>
        <p:spPr>
          <a:xfrm>
            <a:off x="2857500" y="2505075"/>
            <a:ext cx="2000250" cy="2143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06B269-0C00-4971-B48C-2B552B3CFD4B}"/>
              </a:ext>
            </a:extLst>
          </p:cNvPr>
          <p:cNvSpPr>
            <a:spLocks noGrp="1"/>
          </p:cNvSpPr>
          <p:nvPr/>
        </p:nvSpPr>
        <p:spPr>
          <a:xfrm>
            <a:off x="3028950" y="265747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6EB9FA-EFDF-42EA-9E90-126AB9F1AFD9}"/>
              </a:ext>
            </a:extLst>
          </p:cNvPr>
          <p:cNvSpPr>
            <a:spLocks noGrp="1"/>
          </p:cNvSpPr>
          <p:nvPr/>
        </p:nvSpPr>
        <p:spPr>
          <a:xfrm>
            <a:off x="3048000" y="3219450"/>
            <a:ext cx="1619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194" lnSpcReduction="10000"/>
          </a:bodyPr>
          <a:lstStyle/>
          <a:p>
            <a:pPr algn="l">
              <a:defRPr sz="180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Target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E06196-CC0D-4E0A-B407-1E6B45141289}"/>
              </a:ext>
            </a:extLst>
          </p:cNvPr>
          <p:cNvSpPr>
            <a:spLocks noGrp="1"/>
          </p:cNvSpPr>
          <p:nvPr/>
        </p:nvSpPr>
        <p:spPr>
          <a:xfrm>
            <a:off x="3048000" y="3648075"/>
            <a:ext cx="1619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rPr>
              <a:t>Add role and job description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660052F7-FFBE-4B06-B25E-3E08EC1ACC1A}"/>
              </a:ext>
            </a:extLst>
          </p:cNvPr>
          <p:cNvSpPr>
            <a:spLocks noGrp="1"/>
          </p:cNvSpPr>
          <p:nvPr/>
        </p:nvSpPr>
        <p:spPr>
          <a:xfrm>
            <a:off x="4857750" y="3209925"/>
            <a:ext cx="304800" cy="361950"/>
          </a:xfrm>
          <a:prstGeom prst="line">
            <a:avLst/>
          </a:prstGeom>
          <a:noFill/>
          <a:ln w="19050">
            <a:solidFill>
              <a:srgbClr val="16A36A"/>
            </a:solidFill>
          </a:ln>
        </p:spPr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06EDA8-CB97-4366-A6C0-35D8A2155977}"/>
              </a:ext>
            </a:extLst>
          </p:cNvPr>
          <p:cNvSpPr>
            <a:spLocks noGrp="1"/>
          </p:cNvSpPr>
          <p:nvPr/>
        </p:nvSpPr>
        <p:spPr>
          <a:xfrm>
            <a:off x="5162550" y="2143125"/>
            <a:ext cx="2000250" cy="2143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9289D2-6AAE-42A6-8F25-6BC13B3DAE1F}"/>
              </a:ext>
            </a:extLst>
          </p:cNvPr>
          <p:cNvSpPr>
            <a:spLocks noGrp="1"/>
          </p:cNvSpPr>
          <p:nvPr/>
        </p:nvSpPr>
        <p:spPr>
          <a:xfrm>
            <a:off x="5334000" y="229552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B197F8-8F0F-49A2-A32E-2E6F19792282}"/>
              </a:ext>
            </a:extLst>
          </p:cNvPr>
          <p:cNvSpPr>
            <a:spLocks noGrp="1"/>
          </p:cNvSpPr>
          <p:nvPr/>
        </p:nvSpPr>
        <p:spPr>
          <a:xfrm>
            <a:off x="5353050" y="2857500"/>
            <a:ext cx="1619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194" lnSpcReduction="10000"/>
          </a:bodyPr>
          <a:lstStyle/>
          <a:p>
            <a:pPr algn="l">
              <a:defRPr sz="180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Understand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C893C2-3356-4983-B0FA-FD7CB4A332FD}"/>
              </a:ext>
            </a:extLst>
          </p:cNvPr>
          <p:cNvSpPr>
            <a:spLocks noGrp="1"/>
          </p:cNvSpPr>
          <p:nvPr/>
        </p:nvSpPr>
        <p:spPr>
          <a:xfrm>
            <a:off x="5353050" y="3286125"/>
            <a:ext cx="1619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rPr>
              <a:t>See score, gaps, and strengths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8AC0FBB-E63C-45CC-A41F-3F90D1D24A15}"/>
              </a:ext>
            </a:extLst>
          </p:cNvPr>
          <p:cNvSpPr>
            <a:spLocks noGrp="1"/>
          </p:cNvSpPr>
          <p:nvPr/>
        </p:nvSpPr>
        <p:spPr>
          <a:xfrm>
            <a:off x="7162800" y="3209925"/>
            <a:ext cx="304800" cy="361950"/>
          </a:xfrm>
          <a:prstGeom prst="line">
            <a:avLst/>
          </a:prstGeom>
          <a:noFill/>
          <a:ln w="19050">
            <a:solidFill>
              <a:srgbClr val="16A36A"/>
            </a:solidFill>
          </a:ln>
        </p:spPr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204B979-9EE2-4C0D-B68D-6E1F7D73DBD1}"/>
              </a:ext>
            </a:extLst>
          </p:cNvPr>
          <p:cNvSpPr>
            <a:spLocks noGrp="1"/>
          </p:cNvSpPr>
          <p:nvPr/>
        </p:nvSpPr>
        <p:spPr>
          <a:xfrm>
            <a:off x="7467600" y="2505075"/>
            <a:ext cx="2000250" cy="2143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BA047C-B7CB-4406-83CF-BBC6ACEF7422}"/>
              </a:ext>
            </a:extLst>
          </p:cNvPr>
          <p:cNvSpPr>
            <a:spLocks noGrp="1"/>
          </p:cNvSpPr>
          <p:nvPr/>
        </p:nvSpPr>
        <p:spPr>
          <a:xfrm>
            <a:off x="7639050" y="265747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16EF07-5270-46DC-B02F-ADC7ACD0564F}"/>
              </a:ext>
            </a:extLst>
          </p:cNvPr>
          <p:cNvSpPr>
            <a:spLocks noGrp="1"/>
          </p:cNvSpPr>
          <p:nvPr/>
        </p:nvSpPr>
        <p:spPr>
          <a:xfrm>
            <a:off x="7658100" y="3219450"/>
            <a:ext cx="1619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194" lnSpcReduction="10000"/>
          </a:bodyPr>
          <a:lstStyle/>
          <a:p>
            <a:pPr algn="l">
              <a:defRPr sz="180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Improve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68C253-C8F5-4922-A562-53E82E60E9C7}"/>
              </a:ext>
            </a:extLst>
          </p:cNvPr>
          <p:cNvSpPr>
            <a:spLocks noGrp="1"/>
          </p:cNvSpPr>
          <p:nvPr/>
        </p:nvSpPr>
        <p:spPr>
          <a:xfrm>
            <a:off x="7658100" y="3648075"/>
            <a:ext cx="1619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rPr>
              <a:t>Review edits and tailored bullets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70162F7D-5C36-4B7B-B58A-B0A1FC548AE6}"/>
              </a:ext>
            </a:extLst>
          </p:cNvPr>
          <p:cNvSpPr>
            <a:spLocks noGrp="1"/>
          </p:cNvSpPr>
          <p:nvPr/>
        </p:nvSpPr>
        <p:spPr>
          <a:xfrm>
            <a:off x="9467850" y="3209925"/>
            <a:ext cx="304800" cy="361950"/>
          </a:xfrm>
          <a:prstGeom prst="line">
            <a:avLst/>
          </a:prstGeom>
          <a:noFill/>
          <a:ln w="19050">
            <a:solidFill>
              <a:srgbClr val="16A36A"/>
            </a:solidFill>
          </a:ln>
        </p:spPr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3B935D7-D18B-466F-B91C-F128D6C0DFB5}"/>
              </a:ext>
            </a:extLst>
          </p:cNvPr>
          <p:cNvSpPr>
            <a:spLocks noGrp="1"/>
          </p:cNvSpPr>
          <p:nvPr/>
        </p:nvSpPr>
        <p:spPr>
          <a:xfrm>
            <a:off x="9772650" y="2143125"/>
            <a:ext cx="2000250" cy="2143125"/>
          </a:xfrm>
          <a:prstGeom prst="roundRect">
            <a:avLst>
              <a:gd name="adj" fmla="val 5714"/>
            </a:avLst>
          </a:prstGeom>
          <a:solidFill>
            <a:srgbClr val="10233F"/>
          </a:solidFill>
          <a:ln w="9525">
            <a:solidFill>
              <a:srgbClr val="10233F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E71719C-3F94-4BB5-958A-478C3DCEA6CA}"/>
              </a:ext>
            </a:extLst>
          </p:cNvPr>
          <p:cNvSpPr>
            <a:spLocks noGrp="1"/>
          </p:cNvSpPr>
          <p:nvPr/>
        </p:nvSpPr>
        <p:spPr>
          <a:xfrm>
            <a:off x="9944100" y="229552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68D391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68D391"/>
                </a:solidFill>
                <a:latin typeface="Nimbus Sans"/>
                <a:ea typeface="Nimbus Sans"/>
                <a:cs typeface="Nimbus Sans"/>
              </a:rPr>
              <a:t>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07369A-26FD-474E-ABBC-842563BD6235}"/>
              </a:ext>
            </a:extLst>
          </p:cNvPr>
          <p:cNvSpPr>
            <a:spLocks noGrp="1"/>
          </p:cNvSpPr>
          <p:nvPr/>
        </p:nvSpPr>
        <p:spPr>
          <a:xfrm>
            <a:off x="9963150" y="2857500"/>
            <a:ext cx="1619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194" lnSpcReduction="10000"/>
          </a:bodyPr>
          <a:lstStyle/>
          <a:p>
            <a:pPr algn="l">
              <a:defRPr sz="18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Practise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041477B-0847-4270-B9E8-831FE5602CC6}"/>
              </a:ext>
            </a:extLst>
          </p:cNvPr>
          <p:cNvSpPr>
            <a:spLocks noGrp="1"/>
          </p:cNvSpPr>
          <p:nvPr/>
        </p:nvSpPr>
        <p:spPr>
          <a:xfrm>
            <a:off x="9963150" y="3286125"/>
            <a:ext cx="1619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D7E0E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D7E0ED"/>
                </a:solidFill>
                <a:latin typeface="Nimbus Sans"/>
                <a:ea typeface="Nimbus Sans"/>
                <a:cs typeface="Nimbus Sans"/>
              </a:rPr>
              <a:t>Run a grounded mock interview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27D280E-A5C8-4C99-8AA8-3214248CFCF7}"/>
              </a:ext>
            </a:extLst>
          </p:cNvPr>
          <p:cNvSpPr>
            <a:spLocks noGrp="1"/>
          </p:cNvSpPr>
          <p:nvPr/>
        </p:nvSpPr>
        <p:spPr>
          <a:xfrm>
            <a:off x="666750" y="5715000"/>
            <a:ext cx="7620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The result is a practical next step, not a generic verdict.</a:t>
            </a:r>
          </a:p>
        </p:txBody>
      </p:sp>
    </p:spTree>
    <p:extLst>
      <p:ext uri="{BB962C8B-B14F-4D97-AF65-F5344CB8AC3E}">
        <p14:creationId xmlns:p14="http://schemas.microsoft.com/office/powerpoint/2010/main" val="1551776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78C092BB-9182-42DD-A525-81BDE428A161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73DD4F-8CFC-407A-9358-155796D78D7B}"/>
              </a:ext>
            </a:extLst>
          </p:cNvPr>
          <p:cNvSpPr>
            <a:spLocks noGrp="1"/>
          </p:cNvSpPr>
          <p:nvPr/>
        </p:nvSpPr>
        <p:spPr>
          <a:xfrm>
            <a:off x="952500" y="276225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 algn="l">
              <a:def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What Nexora does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BB4B20E-51E7-4D45-85C9-9698C99BB6EA}"/>
              </a:ext>
            </a:extLst>
          </p:cNvPr>
          <p:cNvSpPr>
            <a:spLocks noGrp="1"/>
          </p:cNvSpPr>
          <p:nvPr/>
        </p:nvSpPr>
        <p:spPr>
          <a:xfrm>
            <a:off x="495300" y="847725"/>
            <a:ext cx="11201400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FC9950-2DEE-4ADA-933E-E6AA9FDB4362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4381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9F847A-DC0B-45CA-B804-B4E9BC0918F3}"/>
              </a:ext>
            </a:extLst>
          </p:cNvPr>
          <p:cNvSpPr>
            <a:spLocks noGrp="1"/>
          </p:cNvSpPr>
          <p:nvPr/>
        </p:nvSpPr>
        <p:spPr>
          <a:xfrm>
            <a:off x="1257300" y="1209675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652"/>
          </a:bodyPr>
          <a:lstStyle/>
          <a:p>
            <a:pPr algn="l">
              <a:defRPr sz="1725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Resume 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FD0A5F-6CCB-4741-B832-6B43BF2BD50E}"/>
              </a:ext>
            </a:extLst>
          </p:cNvPr>
          <p:cNvSpPr>
            <a:spLocks noGrp="1"/>
          </p:cNvSpPr>
          <p:nvPr/>
        </p:nvSpPr>
        <p:spPr>
          <a:xfrm>
            <a:off x="1257300" y="1638300"/>
            <a:ext cx="4333875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rPr>
              <a:t>Score breakdown, verdict, strengths, and focused improvements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42975EA8-7709-4614-970C-A6F57C677357}"/>
              </a:ext>
            </a:extLst>
          </p:cNvPr>
          <p:cNvSpPr>
            <a:spLocks noGrp="1"/>
          </p:cNvSpPr>
          <p:nvPr/>
        </p:nvSpPr>
        <p:spPr>
          <a:xfrm>
            <a:off x="1257300" y="2428875"/>
            <a:ext cx="4333875" cy="0"/>
          </a:xfrm>
          <a:prstGeom prst="line">
            <a:avLst/>
          </a:prstGeom>
          <a:noFill/>
          <a:ln w="19050">
            <a:solidFill>
              <a:srgbClr val="68D391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FF8627-9FD0-42EB-B825-A7EA26FDB519}"/>
              </a:ext>
            </a:extLst>
          </p:cNvPr>
          <p:cNvSpPr>
            <a:spLocks noGrp="1"/>
          </p:cNvSpPr>
          <p:nvPr/>
        </p:nvSpPr>
        <p:spPr>
          <a:xfrm>
            <a:off x="6143625" y="1238250"/>
            <a:ext cx="4381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E225F0-1AA1-4EBF-8A62-FD32777FCE33}"/>
              </a:ext>
            </a:extLst>
          </p:cNvPr>
          <p:cNvSpPr>
            <a:spLocks noGrp="1"/>
          </p:cNvSpPr>
          <p:nvPr/>
        </p:nvSpPr>
        <p:spPr>
          <a:xfrm>
            <a:off x="6734175" y="1209675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652"/>
          </a:bodyPr>
          <a:lstStyle/>
          <a:p>
            <a:pPr algn="l">
              <a:defRPr sz="1725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Job match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462023-3CCB-4E48-B816-23ACBE5A4D20}"/>
              </a:ext>
            </a:extLst>
          </p:cNvPr>
          <p:cNvSpPr>
            <a:spLocks noGrp="1"/>
          </p:cNvSpPr>
          <p:nvPr/>
        </p:nvSpPr>
        <p:spPr>
          <a:xfrm>
            <a:off x="6734175" y="1638300"/>
            <a:ext cx="4333875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rPr>
              <a:t>Compares a selected resume with a pasted job description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AB4EF8B6-E95E-437B-BF26-D2C82898EBDF}"/>
              </a:ext>
            </a:extLst>
          </p:cNvPr>
          <p:cNvSpPr>
            <a:spLocks noGrp="1"/>
          </p:cNvSpPr>
          <p:nvPr/>
        </p:nvSpPr>
        <p:spPr>
          <a:xfrm>
            <a:off x="6734175" y="2428875"/>
            <a:ext cx="4333875" cy="0"/>
          </a:xfrm>
          <a:prstGeom prst="line">
            <a:avLst/>
          </a:prstGeom>
          <a:noFill/>
          <a:ln w="19050">
            <a:solidFill>
              <a:srgbClr val="68D391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548315-ABBD-48AC-BB44-E65560E182FD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4381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744659-8DE8-4E5F-BFE5-6FA890DC85C4}"/>
              </a:ext>
            </a:extLst>
          </p:cNvPr>
          <p:cNvSpPr>
            <a:spLocks noGrp="1"/>
          </p:cNvSpPr>
          <p:nvPr/>
        </p:nvSpPr>
        <p:spPr>
          <a:xfrm>
            <a:off x="1257300" y="2828925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652"/>
          </a:bodyPr>
          <a:lstStyle/>
          <a:p>
            <a:pPr algn="l">
              <a:defRPr sz="1725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Missing skills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D8FEA7-7496-4655-8F61-E2ABABC9F6E0}"/>
              </a:ext>
            </a:extLst>
          </p:cNvPr>
          <p:cNvSpPr>
            <a:spLocks noGrp="1"/>
          </p:cNvSpPr>
          <p:nvPr/>
        </p:nvSpPr>
        <p:spPr>
          <a:xfrm>
            <a:off x="1257300" y="3257550"/>
            <a:ext cx="4333875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rPr>
              <a:t>Surfaces role-relevant keywords that the resume does not show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B7C9ECC2-E7F5-4563-94A9-8D52B19C76C0}"/>
              </a:ext>
            </a:extLst>
          </p:cNvPr>
          <p:cNvSpPr>
            <a:spLocks noGrp="1"/>
          </p:cNvSpPr>
          <p:nvPr/>
        </p:nvSpPr>
        <p:spPr>
          <a:xfrm>
            <a:off x="1257300" y="4048125"/>
            <a:ext cx="4333875" cy="0"/>
          </a:xfrm>
          <a:prstGeom prst="line">
            <a:avLst/>
          </a:prstGeom>
          <a:noFill/>
          <a:ln w="19050">
            <a:solidFill>
              <a:srgbClr val="68D391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F55A03-ADC8-47A1-8086-1580D091DF86}"/>
              </a:ext>
            </a:extLst>
          </p:cNvPr>
          <p:cNvSpPr>
            <a:spLocks noGrp="1"/>
          </p:cNvSpPr>
          <p:nvPr/>
        </p:nvSpPr>
        <p:spPr>
          <a:xfrm>
            <a:off x="6143625" y="2857500"/>
            <a:ext cx="4381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A8F28E-EAFA-4AC5-AF8F-EEA6C1467EFE}"/>
              </a:ext>
            </a:extLst>
          </p:cNvPr>
          <p:cNvSpPr>
            <a:spLocks noGrp="1"/>
          </p:cNvSpPr>
          <p:nvPr/>
        </p:nvSpPr>
        <p:spPr>
          <a:xfrm>
            <a:off x="6734175" y="2828925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652"/>
          </a:bodyPr>
          <a:lstStyle/>
          <a:p>
            <a:pPr algn="l">
              <a:defRPr sz="1725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Resume tailoring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7DA7C1-4E02-4C28-AFB0-EE35DDEE19C7}"/>
              </a:ext>
            </a:extLst>
          </p:cNvPr>
          <p:cNvSpPr>
            <a:spLocks noGrp="1"/>
          </p:cNvSpPr>
          <p:nvPr/>
        </p:nvSpPr>
        <p:spPr>
          <a:xfrm>
            <a:off x="6734175" y="3257550"/>
            <a:ext cx="4333875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rPr>
              <a:t>Suggests revised bullets and checks new claims against resume facts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1F01F817-F514-467E-B307-1594AB52058F}"/>
              </a:ext>
            </a:extLst>
          </p:cNvPr>
          <p:cNvSpPr>
            <a:spLocks noGrp="1"/>
          </p:cNvSpPr>
          <p:nvPr/>
        </p:nvSpPr>
        <p:spPr>
          <a:xfrm>
            <a:off x="6734175" y="4048125"/>
            <a:ext cx="4333875" cy="0"/>
          </a:xfrm>
          <a:prstGeom prst="line">
            <a:avLst/>
          </a:prstGeom>
          <a:noFill/>
          <a:ln w="19050">
            <a:solidFill>
              <a:srgbClr val="68D391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355DE9-5D5F-4EA6-8A6D-EC7B0940233B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4381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B2B365-2DFC-4F72-81D7-F751FFEB7741}"/>
              </a:ext>
            </a:extLst>
          </p:cNvPr>
          <p:cNvSpPr>
            <a:spLocks noGrp="1"/>
          </p:cNvSpPr>
          <p:nvPr/>
        </p:nvSpPr>
        <p:spPr>
          <a:xfrm>
            <a:off x="1257300" y="4448175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652"/>
          </a:bodyPr>
          <a:lstStyle/>
          <a:p>
            <a:pPr algn="l">
              <a:defRPr sz="1725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Mock interview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EAB9B9-BC00-48BB-98C0-939A98D417F4}"/>
              </a:ext>
            </a:extLst>
          </p:cNvPr>
          <p:cNvSpPr>
            <a:spLocks noGrp="1"/>
          </p:cNvSpPr>
          <p:nvPr/>
        </p:nvSpPr>
        <p:spPr>
          <a:xfrm>
            <a:off x="1257300" y="4876800"/>
            <a:ext cx="4333875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rPr>
              <a:t>Technical, HR, and resume-based conversational practice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8F48FC7B-9E64-40F7-B483-12BBAD7DF487}"/>
              </a:ext>
            </a:extLst>
          </p:cNvPr>
          <p:cNvSpPr>
            <a:spLocks noGrp="1"/>
          </p:cNvSpPr>
          <p:nvPr/>
        </p:nvSpPr>
        <p:spPr>
          <a:xfrm>
            <a:off x="1257300" y="5667375"/>
            <a:ext cx="4333875" cy="0"/>
          </a:xfrm>
          <a:prstGeom prst="line">
            <a:avLst/>
          </a:prstGeom>
          <a:noFill/>
          <a:ln w="19050">
            <a:solidFill>
              <a:srgbClr val="4F6EF7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8363E4-DA96-4F99-AD5A-E8BC69B5EE0D}"/>
              </a:ext>
            </a:extLst>
          </p:cNvPr>
          <p:cNvSpPr>
            <a:spLocks noGrp="1"/>
          </p:cNvSpPr>
          <p:nvPr/>
        </p:nvSpPr>
        <p:spPr>
          <a:xfrm>
            <a:off x="6143625" y="4476750"/>
            <a:ext cx="4381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E048F3-05BF-4F2E-BDEB-A27134CF6442}"/>
              </a:ext>
            </a:extLst>
          </p:cNvPr>
          <p:cNvSpPr>
            <a:spLocks noGrp="1"/>
          </p:cNvSpPr>
          <p:nvPr/>
        </p:nvSpPr>
        <p:spPr>
          <a:xfrm>
            <a:off x="6734175" y="4448175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652"/>
          </a:bodyPr>
          <a:lstStyle/>
          <a:p>
            <a:pPr algn="l">
              <a:defRPr sz="1725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Career roadmap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632A9E-B83F-4BBA-BFA0-FDABC51C2AF5}"/>
              </a:ext>
            </a:extLst>
          </p:cNvPr>
          <p:cNvSpPr>
            <a:spLocks noGrp="1"/>
          </p:cNvSpPr>
          <p:nvPr/>
        </p:nvSpPr>
        <p:spPr>
          <a:xfrm>
            <a:off x="6734175" y="4876800"/>
            <a:ext cx="4333875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rPr>
              <a:t>Builds a month-by-month plan around missing skills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0A1694BE-0D5B-4090-934A-9CC8AB2F9FBF}"/>
              </a:ext>
            </a:extLst>
          </p:cNvPr>
          <p:cNvSpPr>
            <a:spLocks noGrp="1"/>
          </p:cNvSpPr>
          <p:nvPr/>
        </p:nvSpPr>
        <p:spPr>
          <a:xfrm>
            <a:off x="6734175" y="5667375"/>
            <a:ext cx="4333875" cy="0"/>
          </a:xfrm>
          <a:prstGeom prst="line">
            <a:avLst/>
          </a:prstGeom>
          <a:noFill/>
          <a:ln w="19050">
            <a:solidFill>
              <a:srgbClr val="68D391"/>
            </a:solidFill>
          </a:ln>
        </p:spPr>
      </p:sp>
    </p:spTree>
    <p:extLst>
      <p:ext uri="{BB962C8B-B14F-4D97-AF65-F5344CB8AC3E}">
        <p14:creationId xmlns:p14="http://schemas.microsoft.com/office/powerpoint/2010/main" val="1283899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BDFB0516-8E60-405D-A08D-40279B2697A3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797659-2C11-430F-A386-EADEE83F0E0B}"/>
              </a:ext>
            </a:extLst>
          </p:cNvPr>
          <p:cNvSpPr>
            <a:spLocks noGrp="1"/>
          </p:cNvSpPr>
          <p:nvPr/>
        </p:nvSpPr>
        <p:spPr>
          <a:xfrm>
            <a:off x="952500" y="276225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 algn="l">
              <a:def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User journey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5069C53-D517-4A23-82A5-1C87D4122785}"/>
              </a:ext>
            </a:extLst>
          </p:cNvPr>
          <p:cNvSpPr>
            <a:spLocks noGrp="1"/>
          </p:cNvSpPr>
          <p:nvPr/>
        </p:nvSpPr>
        <p:spPr>
          <a:xfrm>
            <a:off x="495300" y="847725"/>
            <a:ext cx="11201400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34F875C-FB2C-480C-BD33-4011D7307221}"/>
              </a:ext>
            </a:extLst>
          </p:cNvPr>
          <p:cNvSpPr>
            <a:spLocks noGrp="1"/>
          </p:cNvSpPr>
          <p:nvPr/>
        </p:nvSpPr>
        <p:spPr>
          <a:xfrm>
            <a:off x="1190625" y="1809750"/>
            <a:ext cx="819150" cy="819150"/>
          </a:xfrm>
          <a:prstGeom prst="ellipse">
            <a:avLst/>
          </a:prstGeom>
          <a:solidFill>
            <a:srgbClr val="EAF8F1"/>
          </a:solidFill>
          <a:ln w="19050">
            <a:solidFill>
              <a:srgbClr val="16A36A"/>
            </a:solidFill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70F938-0FAC-417D-96FE-28BCC12E5D07}"/>
              </a:ext>
            </a:extLst>
          </p:cNvPr>
          <p:cNvSpPr>
            <a:spLocks noGrp="1"/>
          </p:cNvSpPr>
          <p:nvPr/>
        </p:nvSpPr>
        <p:spPr>
          <a:xfrm>
            <a:off x="1190625" y="1981200"/>
            <a:ext cx="8191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AAA7BC-815D-459E-8C68-19DFFB55E7D5}"/>
              </a:ext>
            </a:extLst>
          </p:cNvPr>
          <p:cNvSpPr>
            <a:spLocks noGrp="1"/>
          </p:cNvSpPr>
          <p:nvPr/>
        </p:nvSpPr>
        <p:spPr>
          <a:xfrm>
            <a:off x="666750" y="2933700"/>
            <a:ext cx="18669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algn="ctr">
              <a:def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E56A99-BD6E-4FD0-9066-2FB0BDCCFEEF}"/>
              </a:ext>
            </a:extLst>
          </p:cNvPr>
          <p:cNvSpPr>
            <a:spLocks noGrp="1"/>
          </p:cNvSpPr>
          <p:nvPr/>
        </p:nvSpPr>
        <p:spPr>
          <a:xfrm>
            <a:off x="742950" y="3248025"/>
            <a:ext cx="1714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Resume + target role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E8BD2A1E-2CE5-4028-8670-A1427AFE5BAF}"/>
              </a:ext>
            </a:extLst>
          </p:cNvPr>
          <p:cNvSpPr>
            <a:spLocks noGrp="1"/>
          </p:cNvSpPr>
          <p:nvPr/>
        </p:nvSpPr>
        <p:spPr>
          <a:xfrm>
            <a:off x="2028825" y="2219325"/>
            <a:ext cx="876300" cy="0"/>
          </a:xfrm>
          <a:prstGeom prst="line">
            <a:avLst/>
          </a:prstGeom>
          <a:noFill/>
          <a:ln w="28575">
            <a:solidFill>
              <a:srgbClr val="DCE7E1"/>
            </a:solidFill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09A2742-7212-4E7E-B36B-C0A13AEE48F0}"/>
              </a:ext>
            </a:extLst>
          </p:cNvPr>
          <p:cNvSpPr>
            <a:spLocks noGrp="1"/>
          </p:cNvSpPr>
          <p:nvPr/>
        </p:nvSpPr>
        <p:spPr>
          <a:xfrm>
            <a:off x="3457575" y="1809750"/>
            <a:ext cx="819150" cy="819150"/>
          </a:xfrm>
          <a:prstGeom prst="ellipse">
            <a:avLst/>
          </a:prstGeom>
          <a:solidFill>
            <a:srgbClr val="EAF8F1"/>
          </a:solidFill>
          <a:ln w="19050">
            <a:solidFill>
              <a:srgbClr val="16A36A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69A1B2-A9C0-4902-B43C-8D9162A1B03A}"/>
              </a:ext>
            </a:extLst>
          </p:cNvPr>
          <p:cNvSpPr>
            <a:spLocks noGrp="1"/>
          </p:cNvSpPr>
          <p:nvPr/>
        </p:nvSpPr>
        <p:spPr>
          <a:xfrm>
            <a:off x="3457575" y="1981200"/>
            <a:ext cx="8191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EB3A43-0EFC-44F3-82DD-6D41F4CEA906}"/>
              </a:ext>
            </a:extLst>
          </p:cNvPr>
          <p:cNvSpPr>
            <a:spLocks noGrp="1"/>
          </p:cNvSpPr>
          <p:nvPr/>
        </p:nvSpPr>
        <p:spPr>
          <a:xfrm>
            <a:off x="2933700" y="2933700"/>
            <a:ext cx="18669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algn="ctr">
              <a:def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PARSE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83119A-2EA0-4FED-8E14-F2A936B9CF55}"/>
              </a:ext>
            </a:extLst>
          </p:cNvPr>
          <p:cNvSpPr>
            <a:spLocks noGrp="1"/>
          </p:cNvSpPr>
          <p:nvPr/>
        </p:nvSpPr>
        <p:spPr>
          <a:xfrm>
            <a:off x="3009900" y="3248025"/>
            <a:ext cx="1714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Extract document text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C061B23B-11F2-40B4-B792-F0F0BE9F3A59}"/>
              </a:ext>
            </a:extLst>
          </p:cNvPr>
          <p:cNvSpPr>
            <a:spLocks noGrp="1"/>
          </p:cNvSpPr>
          <p:nvPr/>
        </p:nvSpPr>
        <p:spPr>
          <a:xfrm>
            <a:off x="4295775" y="2219325"/>
            <a:ext cx="876300" cy="0"/>
          </a:xfrm>
          <a:prstGeom prst="line">
            <a:avLst/>
          </a:prstGeom>
          <a:noFill/>
          <a:ln w="28575">
            <a:solidFill>
              <a:srgbClr val="DCE7E1"/>
            </a:solidFill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23DC75C-36B4-43B2-AD5F-05F11C5B4E29}"/>
              </a:ext>
            </a:extLst>
          </p:cNvPr>
          <p:cNvSpPr>
            <a:spLocks noGrp="1"/>
          </p:cNvSpPr>
          <p:nvPr/>
        </p:nvSpPr>
        <p:spPr>
          <a:xfrm>
            <a:off x="5724525" y="1809750"/>
            <a:ext cx="819150" cy="819150"/>
          </a:xfrm>
          <a:prstGeom prst="ellipse">
            <a:avLst/>
          </a:prstGeom>
          <a:solidFill>
            <a:srgbClr val="EAF0FF"/>
          </a:solidFill>
          <a:ln w="19050">
            <a:solidFill>
              <a:srgbClr val="4F6EF7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B8F56A-2A0E-45ED-8989-57DBA1EE2F59}"/>
              </a:ext>
            </a:extLst>
          </p:cNvPr>
          <p:cNvSpPr>
            <a:spLocks noGrp="1"/>
          </p:cNvSpPr>
          <p:nvPr/>
        </p:nvSpPr>
        <p:spPr>
          <a:xfrm>
            <a:off x="5724525" y="1981200"/>
            <a:ext cx="8191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4F6EF7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4F6EF7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869E21-CFA9-43B5-8F8B-547C61A22364}"/>
              </a:ext>
            </a:extLst>
          </p:cNvPr>
          <p:cNvSpPr>
            <a:spLocks noGrp="1"/>
          </p:cNvSpPr>
          <p:nvPr/>
        </p:nvSpPr>
        <p:spPr>
          <a:xfrm>
            <a:off x="5200650" y="2933700"/>
            <a:ext cx="18669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algn="ctr">
              <a:defRPr sz="1050" b="1">
                <a:solidFill>
                  <a:srgbClr val="4F6EF7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4F6EF7"/>
                </a:solidFill>
                <a:latin typeface="Nimbus Sans"/>
                <a:ea typeface="Nimbus Sans"/>
                <a:cs typeface="Nimbus Sans"/>
              </a:rPr>
              <a:t>ANALYZE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C905A6-810D-405F-AFFC-EF01D7BA245E}"/>
              </a:ext>
            </a:extLst>
          </p:cNvPr>
          <p:cNvSpPr>
            <a:spLocks noGrp="1"/>
          </p:cNvSpPr>
          <p:nvPr/>
        </p:nvSpPr>
        <p:spPr>
          <a:xfrm>
            <a:off x="5276850" y="3248025"/>
            <a:ext cx="1714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Compare evidence and role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BC7F2CED-38E9-4973-ABAE-226BDCB56D3B}"/>
              </a:ext>
            </a:extLst>
          </p:cNvPr>
          <p:cNvSpPr>
            <a:spLocks noGrp="1"/>
          </p:cNvSpPr>
          <p:nvPr/>
        </p:nvSpPr>
        <p:spPr>
          <a:xfrm>
            <a:off x="6562725" y="2219325"/>
            <a:ext cx="876300" cy="0"/>
          </a:xfrm>
          <a:prstGeom prst="line">
            <a:avLst/>
          </a:prstGeom>
          <a:noFill/>
          <a:ln w="28575">
            <a:solidFill>
              <a:srgbClr val="DCE7E1"/>
            </a:solidFill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857079-3105-4BAD-8C9D-E0C1D9C27730}"/>
              </a:ext>
            </a:extLst>
          </p:cNvPr>
          <p:cNvSpPr>
            <a:spLocks noGrp="1"/>
          </p:cNvSpPr>
          <p:nvPr/>
        </p:nvSpPr>
        <p:spPr>
          <a:xfrm>
            <a:off x="7991475" y="1809750"/>
            <a:ext cx="819150" cy="819150"/>
          </a:xfrm>
          <a:prstGeom prst="ellipse">
            <a:avLst/>
          </a:prstGeom>
          <a:solidFill>
            <a:srgbClr val="EAF8F1"/>
          </a:solidFill>
          <a:ln w="19050">
            <a:solidFill>
              <a:srgbClr val="16A36A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AB5406-7C0E-417A-B87C-3CB5D4DF7382}"/>
              </a:ext>
            </a:extLst>
          </p:cNvPr>
          <p:cNvSpPr>
            <a:spLocks noGrp="1"/>
          </p:cNvSpPr>
          <p:nvPr/>
        </p:nvSpPr>
        <p:spPr>
          <a:xfrm>
            <a:off x="7991475" y="1981200"/>
            <a:ext cx="8191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9D0FAB-5914-4C93-AFED-7D3212BFD2AB}"/>
              </a:ext>
            </a:extLst>
          </p:cNvPr>
          <p:cNvSpPr>
            <a:spLocks noGrp="1"/>
          </p:cNvSpPr>
          <p:nvPr/>
        </p:nvSpPr>
        <p:spPr>
          <a:xfrm>
            <a:off x="7467600" y="2933700"/>
            <a:ext cx="18669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algn="ctr">
              <a:def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ACT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71EE51-B06E-4B9B-A911-4DC178E921CA}"/>
              </a:ext>
            </a:extLst>
          </p:cNvPr>
          <p:cNvSpPr>
            <a:spLocks noGrp="1"/>
          </p:cNvSpPr>
          <p:nvPr/>
        </p:nvSpPr>
        <p:spPr>
          <a:xfrm>
            <a:off x="7543800" y="3248025"/>
            <a:ext cx="1714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Improve the application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805A7D79-81AE-4D3E-A83A-FA564F7F5EE3}"/>
              </a:ext>
            </a:extLst>
          </p:cNvPr>
          <p:cNvSpPr>
            <a:spLocks noGrp="1"/>
          </p:cNvSpPr>
          <p:nvPr/>
        </p:nvSpPr>
        <p:spPr>
          <a:xfrm>
            <a:off x="8829675" y="2219325"/>
            <a:ext cx="876300" cy="0"/>
          </a:xfrm>
          <a:prstGeom prst="line">
            <a:avLst/>
          </a:prstGeom>
          <a:noFill/>
          <a:ln w="28575">
            <a:solidFill>
              <a:srgbClr val="DCE7E1"/>
            </a:solidFill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E0D471A-C5C7-40A9-8B57-BEB2A32B8D5F}"/>
              </a:ext>
            </a:extLst>
          </p:cNvPr>
          <p:cNvSpPr>
            <a:spLocks noGrp="1"/>
          </p:cNvSpPr>
          <p:nvPr/>
        </p:nvSpPr>
        <p:spPr>
          <a:xfrm>
            <a:off x="10258425" y="1809750"/>
            <a:ext cx="819150" cy="819150"/>
          </a:xfrm>
          <a:prstGeom prst="ellipse">
            <a:avLst/>
          </a:prstGeom>
          <a:solidFill>
            <a:srgbClr val="EAF8F1"/>
          </a:solidFill>
          <a:ln w="19050">
            <a:solidFill>
              <a:srgbClr val="16A36A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517126-7798-4931-A5F5-0715C88D79D3}"/>
              </a:ext>
            </a:extLst>
          </p:cNvPr>
          <p:cNvSpPr>
            <a:spLocks noGrp="1"/>
          </p:cNvSpPr>
          <p:nvPr/>
        </p:nvSpPr>
        <p:spPr>
          <a:xfrm>
            <a:off x="10258425" y="1981200"/>
            <a:ext cx="8191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06AFB4-FA89-4B64-A8EF-40C36194A167}"/>
              </a:ext>
            </a:extLst>
          </p:cNvPr>
          <p:cNvSpPr>
            <a:spLocks noGrp="1"/>
          </p:cNvSpPr>
          <p:nvPr/>
        </p:nvSpPr>
        <p:spPr>
          <a:xfrm>
            <a:off x="9734550" y="2933700"/>
            <a:ext cx="18669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algn="ctr">
              <a:def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PRACTISE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94DAF7-13CD-4B5D-AC85-0C2F41480D4A}"/>
              </a:ext>
            </a:extLst>
          </p:cNvPr>
          <p:cNvSpPr>
            <a:spLocks noGrp="1"/>
          </p:cNvSpPr>
          <p:nvPr/>
        </p:nvSpPr>
        <p:spPr>
          <a:xfrm>
            <a:off x="9810750" y="3248025"/>
            <a:ext cx="1714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Answer relevant questions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F73CB9F-BB10-42A6-9CAE-C1ED66E10299}"/>
              </a:ext>
            </a:extLst>
          </p:cNvPr>
          <p:cNvSpPr>
            <a:spLocks noGrp="1"/>
          </p:cNvSpPr>
          <p:nvPr/>
        </p:nvSpPr>
        <p:spPr>
          <a:xfrm>
            <a:off x="1466850" y="4619625"/>
            <a:ext cx="9239250" cy="1123950"/>
          </a:xfrm>
          <a:prstGeom prst="roundRect">
            <a:avLst>
              <a:gd name="adj" fmla="val 10169"/>
            </a:avLst>
          </a:prstGeom>
          <a:solidFill>
            <a:srgbClr val="10233F"/>
          </a:solidFill>
          <a:ln w="9525">
            <a:solidFill>
              <a:srgbClr val="10233F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EE85CDB-9A69-404E-89AA-C6A70F6BE9AC}"/>
              </a:ext>
            </a:extLst>
          </p:cNvPr>
          <p:cNvSpPr>
            <a:spLocks noGrp="1"/>
          </p:cNvSpPr>
          <p:nvPr/>
        </p:nvSpPr>
        <p:spPr>
          <a:xfrm>
            <a:off x="1752600" y="4857750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68D391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68D391"/>
                </a:solidFill>
                <a:latin typeface="Nimbus Sans"/>
                <a:ea typeface="Nimbus Sans"/>
                <a:cs typeface="Nimbus Sans"/>
              </a:rPr>
              <a:t>Structured output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2EA9D15-1B61-4F3B-9152-A04CB5346234}"/>
              </a:ext>
            </a:extLst>
          </p:cNvPr>
          <p:cNvSpPr>
            <a:spLocks noGrp="1"/>
          </p:cNvSpPr>
          <p:nvPr/>
        </p:nvSpPr>
        <p:spPr>
          <a:xfrm>
            <a:off x="1752600" y="5191125"/>
            <a:ext cx="833437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3286" lnSpcReduction="10000"/>
          </a:bodyPr>
          <a:lstStyle/>
          <a:p>
            <a:pPr algn="l">
              <a:defRPr sz="135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Compatibility score, missing keywords, strengths, suggested edits, and interview context all trace back to the uploaded resume and target role.</a:t>
            </a:r>
          </a:p>
        </p:txBody>
      </p:sp>
    </p:spTree>
    <p:extLst>
      <p:ext uri="{BB962C8B-B14F-4D97-AF65-F5344CB8AC3E}">
        <p14:creationId xmlns:p14="http://schemas.microsoft.com/office/powerpoint/2010/main" val="1174934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641EDC2-1D60-498B-9FC4-95DD1794934C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3D48CE-DB26-49F3-B7B8-1CC7E9623EDB}"/>
              </a:ext>
            </a:extLst>
          </p:cNvPr>
          <p:cNvSpPr>
            <a:spLocks noGrp="1"/>
          </p:cNvSpPr>
          <p:nvPr/>
        </p:nvSpPr>
        <p:spPr>
          <a:xfrm>
            <a:off x="952500" y="276225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 algn="l">
              <a:def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The product experience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DFA354E-E24F-46AC-8660-4054FB616790}"/>
              </a:ext>
            </a:extLst>
          </p:cNvPr>
          <p:cNvSpPr>
            <a:spLocks noGrp="1"/>
          </p:cNvSpPr>
          <p:nvPr/>
        </p:nvSpPr>
        <p:spPr>
          <a:xfrm>
            <a:off x="495300" y="847725"/>
            <a:ext cx="11201400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rcRect t="656" b="656"/>
          <a:stretch>
            <a:fillRect/>
          </a:stretch>
        </p:blipFill>
        <p:spPr>
          <a:xfrm>
            <a:off x="552450" y="1190625"/>
            <a:ext cx="5381625" cy="2524125"/>
          </a:xfrm>
          <a:prstGeom prst="roundRect">
            <a:avLst>
              <a:gd name="adj" fmla="val 4528"/>
            </a:avLst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rcRect l="376" r="376"/>
          <a:stretch>
            <a:fillRect/>
          </a:stretch>
        </p:blipFill>
        <p:spPr>
          <a:xfrm>
            <a:off x="6267450" y="1190625"/>
            <a:ext cx="5381625" cy="2524125"/>
          </a:xfrm>
          <a:prstGeom prst="roundRect">
            <a:avLst>
              <a:gd name="adj" fmla="val 4528"/>
            </a:avLst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49BFA27-D78E-4527-9F49-5B910F2B203C}"/>
              </a:ext>
            </a:extLst>
          </p:cNvPr>
          <p:cNvSpPr>
            <a:spLocks noGrp="1"/>
          </p:cNvSpPr>
          <p:nvPr/>
        </p:nvSpPr>
        <p:spPr>
          <a:xfrm>
            <a:off x="723900" y="3886200"/>
            <a:ext cx="1524000" cy="323850"/>
          </a:xfrm>
          <a:prstGeom prst="roundRect">
            <a:avLst>
              <a:gd name="adj" fmla="val 35294"/>
            </a:avLst>
          </a:prstGeom>
          <a:solidFill>
            <a:srgbClr val="EAF8F1"/>
          </a:solidFill>
          <a:ln w="9525">
            <a:solidFill>
              <a:srgbClr val="EAF8F1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99B271-0BCD-4581-ACEF-6C382CCA6382}"/>
              </a:ext>
            </a:extLst>
          </p:cNvPr>
          <p:cNvSpPr>
            <a:spLocks noGrp="1"/>
          </p:cNvSpPr>
          <p:nvPr/>
        </p:nvSpPr>
        <p:spPr>
          <a:xfrm>
            <a:off x="819150" y="3905250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103"/>
          </a:bodyPr>
          <a:lstStyle/>
          <a:p>
            <a:pPr algn="ctr">
              <a:def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RESUME REPORT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424B6C-F50B-46C0-A2D7-6046AB4A2DA9}"/>
              </a:ext>
            </a:extLst>
          </p:cNvPr>
          <p:cNvSpPr>
            <a:spLocks noGrp="1"/>
          </p:cNvSpPr>
          <p:nvPr/>
        </p:nvSpPr>
        <p:spPr>
          <a:xfrm>
            <a:off x="723900" y="4295775"/>
            <a:ext cx="49053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See the score, breakdown, verdict, strengths, and next edits.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8191644-4EC3-4756-AA10-F1F2D7D3B663}"/>
              </a:ext>
            </a:extLst>
          </p:cNvPr>
          <p:cNvSpPr>
            <a:spLocks noGrp="1"/>
          </p:cNvSpPr>
          <p:nvPr/>
        </p:nvSpPr>
        <p:spPr>
          <a:xfrm>
            <a:off x="6438900" y="3886200"/>
            <a:ext cx="1619250" cy="323850"/>
          </a:xfrm>
          <a:prstGeom prst="roundRect">
            <a:avLst>
              <a:gd name="adj" fmla="val 35294"/>
            </a:avLst>
          </a:prstGeom>
          <a:solidFill>
            <a:srgbClr val="EAF0FF"/>
          </a:solidFill>
          <a:ln w="9525">
            <a:solidFill>
              <a:srgbClr val="EAF0F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63BE4C-3B4A-4537-8F2D-8021F11D534E}"/>
              </a:ext>
            </a:extLst>
          </p:cNvPr>
          <p:cNvSpPr>
            <a:spLocks noGrp="1"/>
          </p:cNvSpPr>
          <p:nvPr/>
        </p:nvSpPr>
        <p:spPr>
          <a:xfrm>
            <a:off x="6534150" y="39052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4F6EF7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4F6EF7"/>
                </a:solidFill>
                <a:latin typeface="Nimbus Sans"/>
                <a:ea typeface="Nimbus Sans"/>
                <a:cs typeface="Nimbus Sans"/>
              </a:rPr>
              <a:t>MOCK INTERVIEW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364CF6-9C96-4692-B309-1E95BB53D93A}"/>
              </a:ext>
            </a:extLst>
          </p:cNvPr>
          <p:cNvSpPr>
            <a:spLocks noGrp="1"/>
          </p:cNvSpPr>
          <p:nvPr/>
        </p:nvSpPr>
        <p:spPr>
          <a:xfrm>
            <a:off x="6438900" y="4295775"/>
            <a:ext cx="49053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Choose technical, behavioral, or resume-based practice.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33BBEB-962D-45DE-9AFD-EFFB83FA2D68}"/>
              </a:ext>
            </a:extLst>
          </p:cNvPr>
          <p:cNvSpPr>
            <a:spLocks noGrp="1"/>
          </p:cNvSpPr>
          <p:nvPr/>
        </p:nvSpPr>
        <p:spPr>
          <a:xfrm>
            <a:off x="723900" y="582930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rPr>
              <a:t>Real screens from the current Nexora interface</a:t>
            </a:r>
          </a:p>
        </p:txBody>
      </p:sp>
    </p:spTree>
    <p:extLst>
      <p:ext uri="{BB962C8B-B14F-4D97-AF65-F5344CB8AC3E}">
        <p14:creationId xmlns:p14="http://schemas.microsoft.com/office/powerpoint/2010/main" val="2147096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3AD7A821-6C07-495E-9B67-A005E981F1FE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32C364-A39D-420D-A7B5-3EE5C37D4668}"/>
              </a:ext>
            </a:extLst>
          </p:cNvPr>
          <p:cNvSpPr>
            <a:spLocks noGrp="1"/>
          </p:cNvSpPr>
          <p:nvPr/>
        </p:nvSpPr>
        <p:spPr>
          <a:xfrm>
            <a:off x="952500" y="276225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 algn="l">
              <a:def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Technical architecture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6940D76-01C7-43BD-85FF-975940EE3F8F}"/>
              </a:ext>
            </a:extLst>
          </p:cNvPr>
          <p:cNvSpPr>
            <a:spLocks noGrp="1"/>
          </p:cNvSpPr>
          <p:nvPr/>
        </p:nvSpPr>
        <p:spPr>
          <a:xfrm>
            <a:off x="495300" y="847725"/>
            <a:ext cx="11201400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5A2F21-C6AB-4F38-B9E7-A8BAD986E882}"/>
              </a:ext>
            </a:extLst>
          </p:cNvPr>
          <p:cNvSpPr>
            <a:spLocks noGrp="1"/>
          </p:cNvSpPr>
          <p:nvPr/>
        </p:nvSpPr>
        <p:spPr>
          <a:xfrm>
            <a:off x="533400" y="1285875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USER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064EC62-4970-468D-A9C7-44930EB7F0FF}"/>
              </a:ext>
            </a:extLst>
          </p:cNvPr>
          <p:cNvSpPr>
            <a:spLocks noGrp="1"/>
          </p:cNvSpPr>
          <p:nvPr/>
        </p:nvSpPr>
        <p:spPr>
          <a:xfrm>
            <a:off x="533400" y="1685925"/>
            <a:ext cx="1619250" cy="3476625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0F7A23-3098-4261-96F9-B3DFAA4C277D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13525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Browser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9548FAC2-C506-448E-AD03-C9F747C9C7EC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1200150" cy="0"/>
          </a:xfrm>
          <a:prstGeom prst="line">
            <a:avLst/>
          </a:prstGeom>
          <a:noFill/>
          <a:ln w="9525">
            <a:solidFill>
              <a:srgbClr val="DCE7E1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C986F4-8D13-44DB-9809-23E0CCE4D684}"/>
              </a:ext>
            </a:extLst>
          </p:cNvPr>
          <p:cNvSpPr>
            <a:spLocks noGrp="1"/>
          </p:cNvSpPr>
          <p:nvPr/>
        </p:nvSpPr>
        <p:spPr>
          <a:xfrm>
            <a:off x="666750" y="2533650"/>
            <a:ext cx="13525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Resume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6FC54C28-BB64-410F-AADA-CB7F0442A389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1200150" cy="0"/>
          </a:xfrm>
          <a:prstGeom prst="line">
            <a:avLst/>
          </a:prstGeom>
          <a:noFill/>
          <a:ln w="9525">
            <a:solidFill>
              <a:srgbClr val="DCE7E1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870BDA-9507-476B-93AA-DA9F65870B90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3525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Job description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C9354936-508D-4254-924A-4506A3080A13}"/>
              </a:ext>
            </a:extLst>
          </p:cNvPr>
          <p:cNvSpPr>
            <a:spLocks noGrp="1"/>
          </p:cNvSpPr>
          <p:nvPr/>
        </p:nvSpPr>
        <p:spPr>
          <a:xfrm>
            <a:off x="2152650" y="3381375"/>
            <a:ext cx="228600" cy="0"/>
          </a:xfrm>
          <a:prstGeom prst="line">
            <a:avLst/>
          </a:prstGeom>
          <a:noFill/>
          <a:ln w="19050">
            <a:solidFill>
              <a:srgbClr val="16A36A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0D06CC-9FDD-4F19-85E0-F9586D9F8B29}"/>
              </a:ext>
            </a:extLst>
          </p:cNvPr>
          <p:cNvSpPr>
            <a:spLocks noGrp="1"/>
          </p:cNvSpPr>
          <p:nvPr/>
        </p:nvSpPr>
        <p:spPr>
          <a:xfrm>
            <a:off x="2381250" y="128587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FRONTEND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5CF8625-3BDC-46F8-B113-7733A9BC962E}"/>
              </a:ext>
            </a:extLst>
          </p:cNvPr>
          <p:cNvSpPr>
            <a:spLocks noGrp="1"/>
          </p:cNvSpPr>
          <p:nvPr/>
        </p:nvSpPr>
        <p:spPr>
          <a:xfrm>
            <a:off x="2381250" y="1685925"/>
            <a:ext cx="1809750" cy="3476625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93AECC-9DE4-4373-BC49-22EC31B359C2}"/>
              </a:ext>
            </a:extLst>
          </p:cNvPr>
          <p:cNvSpPr>
            <a:spLocks noGrp="1"/>
          </p:cNvSpPr>
          <p:nvPr/>
        </p:nvSpPr>
        <p:spPr>
          <a:xfrm>
            <a:off x="2514600" y="1885950"/>
            <a:ext cx="15430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React 19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6A4B6F4D-ECAF-489E-8BDA-1180D797127F}"/>
              </a:ext>
            </a:extLst>
          </p:cNvPr>
          <p:cNvSpPr>
            <a:spLocks noGrp="1"/>
          </p:cNvSpPr>
          <p:nvPr/>
        </p:nvSpPr>
        <p:spPr>
          <a:xfrm>
            <a:off x="2590800" y="2381250"/>
            <a:ext cx="1390650" cy="0"/>
          </a:xfrm>
          <a:prstGeom prst="line">
            <a:avLst/>
          </a:prstGeom>
          <a:noFill/>
          <a:ln w="9525">
            <a:solidFill>
              <a:srgbClr val="DCE7E1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97718C-CB3B-4C0A-8F1D-62C0AB5DB1C5}"/>
              </a:ext>
            </a:extLst>
          </p:cNvPr>
          <p:cNvSpPr>
            <a:spLocks noGrp="1"/>
          </p:cNvSpPr>
          <p:nvPr/>
        </p:nvSpPr>
        <p:spPr>
          <a:xfrm>
            <a:off x="2514600" y="2533650"/>
            <a:ext cx="15430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TypeScript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D366C386-768E-4426-8298-790357FDC6A9}"/>
              </a:ext>
            </a:extLst>
          </p:cNvPr>
          <p:cNvSpPr>
            <a:spLocks noGrp="1"/>
          </p:cNvSpPr>
          <p:nvPr/>
        </p:nvSpPr>
        <p:spPr>
          <a:xfrm>
            <a:off x="2590800" y="3028950"/>
            <a:ext cx="1390650" cy="0"/>
          </a:xfrm>
          <a:prstGeom prst="line">
            <a:avLst/>
          </a:prstGeom>
          <a:noFill/>
          <a:ln w="9525">
            <a:solidFill>
              <a:srgbClr val="DCE7E1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965945-33FF-4462-B902-58432E539DFF}"/>
              </a:ext>
            </a:extLst>
          </p:cNvPr>
          <p:cNvSpPr>
            <a:spLocks noGrp="1"/>
          </p:cNvSpPr>
          <p:nvPr/>
        </p:nvSpPr>
        <p:spPr>
          <a:xfrm>
            <a:off x="2514600" y="3181350"/>
            <a:ext cx="15430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/>
          </a:bodyPr>
          <a:lstStyle/>
          <a:p>
            <a:pPr algn="ctr">
              <a:def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Vite + CSS Modules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F8B8A515-04EE-4049-82C5-D20FD83F6836}"/>
              </a:ext>
            </a:extLst>
          </p:cNvPr>
          <p:cNvSpPr>
            <a:spLocks noGrp="1"/>
          </p:cNvSpPr>
          <p:nvPr/>
        </p:nvSpPr>
        <p:spPr>
          <a:xfrm>
            <a:off x="4191000" y="3381375"/>
            <a:ext cx="228600" cy="0"/>
          </a:xfrm>
          <a:prstGeom prst="line">
            <a:avLst/>
          </a:prstGeom>
          <a:noFill/>
          <a:ln w="19050">
            <a:solidFill>
              <a:srgbClr val="16A36A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1879AA-917E-43AD-B268-0DA35DE92A05}"/>
              </a:ext>
            </a:extLst>
          </p:cNvPr>
          <p:cNvSpPr>
            <a:spLocks noGrp="1"/>
          </p:cNvSpPr>
          <p:nvPr/>
        </p:nvSpPr>
        <p:spPr>
          <a:xfrm>
            <a:off x="4476750" y="128587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FASTAPI API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F05CB6A-89AC-4F5A-B236-24B55B7A854A}"/>
              </a:ext>
            </a:extLst>
          </p:cNvPr>
          <p:cNvSpPr>
            <a:spLocks noGrp="1"/>
          </p:cNvSpPr>
          <p:nvPr/>
        </p:nvSpPr>
        <p:spPr>
          <a:xfrm>
            <a:off x="4476750" y="1685925"/>
            <a:ext cx="1809750" cy="3476625"/>
          </a:xfrm>
          <a:prstGeom prst="roundRect">
            <a:avLst>
              <a:gd name="adj" fmla="val 6316"/>
            </a:avLst>
          </a:prstGeom>
          <a:solidFill>
            <a:srgbClr val="EAF8F1"/>
          </a:solidFill>
          <a:ln w="9525">
            <a:solidFill>
              <a:srgbClr val="16A36A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16DA76-F54B-45B8-A62B-E64A654CD0E8}"/>
              </a:ext>
            </a:extLst>
          </p:cNvPr>
          <p:cNvSpPr>
            <a:spLocks noGrp="1"/>
          </p:cNvSpPr>
          <p:nvPr/>
        </p:nvSpPr>
        <p:spPr>
          <a:xfrm>
            <a:off x="4610100" y="1885950"/>
            <a:ext cx="15430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Resume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047EA7BA-5374-4AC7-982D-AB11F8CCCE6E}"/>
              </a:ext>
            </a:extLst>
          </p:cNvPr>
          <p:cNvSpPr>
            <a:spLocks noGrp="1"/>
          </p:cNvSpPr>
          <p:nvPr/>
        </p:nvSpPr>
        <p:spPr>
          <a:xfrm>
            <a:off x="4686300" y="2381250"/>
            <a:ext cx="1390650" cy="0"/>
          </a:xfrm>
          <a:prstGeom prst="line">
            <a:avLst/>
          </a:prstGeom>
          <a:noFill/>
          <a:ln w="9525">
            <a:solidFill>
              <a:srgbClr val="DCE7E1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D7C5D0-1666-4B50-BEB5-0A0E303F9F98}"/>
              </a:ext>
            </a:extLst>
          </p:cNvPr>
          <p:cNvSpPr>
            <a:spLocks noGrp="1"/>
          </p:cNvSpPr>
          <p:nvPr/>
        </p:nvSpPr>
        <p:spPr>
          <a:xfrm>
            <a:off x="4610100" y="2457450"/>
            <a:ext cx="15430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Job match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1D2448D0-41AD-4743-AD1A-388E44B4547B}"/>
              </a:ext>
            </a:extLst>
          </p:cNvPr>
          <p:cNvSpPr>
            <a:spLocks noGrp="1"/>
          </p:cNvSpPr>
          <p:nvPr/>
        </p:nvSpPr>
        <p:spPr>
          <a:xfrm>
            <a:off x="4686300" y="2952750"/>
            <a:ext cx="1390650" cy="0"/>
          </a:xfrm>
          <a:prstGeom prst="line">
            <a:avLst/>
          </a:prstGeom>
          <a:noFill/>
          <a:ln w="9525">
            <a:solidFill>
              <a:srgbClr val="DCE7E1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BDD062-295A-4680-9337-94BDBA8990A5}"/>
              </a:ext>
            </a:extLst>
          </p:cNvPr>
          <p:cNvSpPr>
            <a:spLocks noGrp="1"/>
          </p:cNvSpPr>
          <p:nvPr/>
        </p:nvSpPr>
        <p:spPr>
          <a:xfrm>
            <a:off x="4610100" y="3028950"/>
            <a:ext cx="15430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Tailor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6EA2CCA1-5C16-445B-99E6-F9BEBEAABCC1}"/>
              </a:ext>
            </a:extLst>
          </p:cNvPr>
          <p:cNvSpPr>
            <a:spLocks noGrp="1"/>
          </p:cNvSpPr>
          <p:nvPr/>
        </p:nvSpPr>
        <p:spPr>
          <a:xfrm>
            <a:off x="4686300" y="3524250"/>
            <a:ext cx="1390650" cy="0"/>
          </a:xfrm>
          <a:prstGeom prst="line">
            <a:avLst/>
          </a:prstGeom>
          <a:noFill/>
          <a:ln w="9525">
            <a:solidFill>
              <a:srgbClr val="DCE7E1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7675FD-EF65-4DF8-980B-A8566854B93A}"/>
              </a:ext>
            </a:extLst>
          </p:cNvPr>
          <p:cNvSpPr>
            <a:spLocks noGrp="1"/>
          </p:cNvSpPr>
          <p:nvPr/>
        </p:nvSpPr>
        <p:spPr>
          <a:xfrm>
            <a:off x="4610100" y="3600450"/>
            <a:ext cx="15430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Interview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9976A8A2-BBCA-45DC-AAAA-E89EF8A9EA77}"/>
              </a:ext>
            </a:extLst>
          </p:cNvPr>
          <p:cNvSpPr>
            <a:spLocks noGrp="1"/>
          </p:cNvSpPr>
          <p:nvPr/>
        </p:nvSpPr>
        <p:spPr>
          <a:xfrm>
            <a:off x="4686300" y="4095750"/>
            <a:ext cx="1390650" cy="0"/>
          </a:xfrm>
          <a:prstGeom prst="line">
            <a:avLst/>
          </a:prstGeom>
          <a:noFill/>
          <a:ln w="9525">
            <a:solidFill>
              <a:srgbClr val="DCE7E1"/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911976-81D8-49F4-9DE9-D1E35697F7F9}"/>
              </a:ext>
            </a:extLst>
          </p:cNvPr>
          <p:cNvSpPr>
            <a:spLocks noGrp="1"/>
          </p:cNvSpPr>
          <p:nvPr/>
        </p:nvSpPr>
        <p:spPr>
          <a:xfrm>
            <a:off x="4610100" y="4171950"/>
            <a:ext cx="15430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Roadmap</a:t>
            </a:r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D3887926-208B-444A-ADE4-F95E58B1BEFF}"/>
              </a:ext>
            </a:extLst>
          </p:cNvPr>
          <p:cNvSpPr>
            <a:spLocks noGrp="1"/>
          </p:cNvSpPr>
          <p:nvPr/>
        </p:nvSpPr>
        <p:spPr>
          <a:xfrm>
            <a:off x="6286500" y="3381375"/>
            <a:ext cx="228600" cy="0"/>
          </a:xfrm>
          <a:prstGeom prst="line">
            <a:avLst/>
          </a:prstGeom>
          <a:noFill/>
          <a:ln w="19050">
            <a:solidFill>
              <a:srgbClr val="16A36A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4A7363-30CA-4565-B7E1-E655338E8ACC}"/>
              </a:ext>
            </a:extLst>
          </p:cNvPr>
          <p:cNvSpPr>
            <a:spLocks noGrp="1"/>
          </p:cNvSpPr>
          <p:nvPr/>
        </p:nvSpPr>
        <p:spPr>
          <a:xfrm>
            <a:off x="6572250" y="1285875"/>
            <a:ext cx="223837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PROCESSING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7955FAA-22B3-4635-A8E1-8530578E00A5}"/>
              </a:ext>
            </a:extLst>
          </p:cNvPr>
          <p:cNvSpPr>
            <a:spLocks noGrp="1"/>
          </p:cNvSpPr>
          <p:nvPr/>
        </p:nvSpPr>
        <p:spPr>
          <a:xfrm>
            <a:off x="6572250" y="1685925"/>
            <a:ext cx="2238375" cy="3476625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BB47845-527B-4981-BDAF-F1FD5AB09168}"/>
              </a:ext>
            </a:extLst>
          </p:cNvPr>
          <p:cNvSpPr>
            <a:spLocks noGrp="1"/>
          </p:cNvSpPr>
          <p:nvPr/>
        </p:nvSpPr>
        <p:spPr>
          <a:xfrm>
            <a:off x="6705600" y="1885950"/>
            <a:ext cx="197167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PyMuPDF / python-docx</a:t>
            </a:r>
          </a:p>
        </p:txBody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2C3913BE-7115-4F68-AA58-FFC1E2F8D748}"/>
              </a:ext>
            </a:extLst>
          </p:cNvPr>
          <p:cNvSpPr>
            <a:spLocks noGrp="1"/>
          </p:cNvSpPr>
          <p:nvPr/>
        </p:nvSpPr>
        <p:spPr>
          <a:xfrm>
            <a:off x="6781800" y="2381250"/>
            <a:ext cx="1819275" cy="0"/>
          </a:xfrm>
          <a:prstGeom prst="line">
            <a:avLst/>
          </a:prstGeom>
          <a:noFill/>
          <a:ln w="9525">
            <a:solidFill>
              <a:srgbClr val="DCE7E1"/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3F39AFC-18B1-4FEE-863C-3AEAD81115E4}"/>
              </a:ext>
            </a:extLst>
          </p:cNvPr>
          <p:cNvSpPr>
            <a:spLocks noGrp="1"/>
          </p:cNvSpPr>
          <p:nvPr/>
        </p:nvSpPr>
        <p:spPr>
          <a:xfrm>
            <a:off x="6705600" y="2533650"/>
            <a:ext cx="197167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Local Truth Guard rules</a:t>
            </a:r>
          </a:p>
        </p:txBody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2D5D2BCB-6AD0-43DE-A7B2-116CE9796E7E}"/>
              </a:ext>
            </a:extLst>
          </p:cNvPr>
          <p:cNvSpPr>
            <a:spLocks noGrp="1"/>
          </p:cNvSpPr>
          <p:nvPr/>
        </p:nvSpPr>
        <p:spPr>
          <a:xfrm>
            <a:off x="6781800" y="3028950"/>
            <a:ext cx="1819275" cy="0"/>
          </a:xfrm>
          <a:prstGeom prst="line">
            <a:avLst/>
          </a:prstGeom>
          <a:noFill/>
          <a:ln w="9525">
            <a:solidFill>
              <a:srgbClr val="DCE7E1"/>
            </a:solidFill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205A1DC-526F-48BA-8B0B-C5771BC8478A}"/>
              </a:ext>
            </a:extLst>
          </p:cNvPr>
          <p:cNvSpPr>
            <a:spLocks noGrp="1"/>
          </p:cNvSpPr>
          <p:nvPr/>
        </p:nvSpPr>
        <p:spPr>
          <a:xfrm>
            <a:off x="6705600" y="3181350"/>
            <a:ext cx="197167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Grounding checks</a:t>
            </a:r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BE880E08-CD4C-490F-BDE9-498E5BAA287E}"/>
              </a:ext>
            </a:extLst>
          </p:cNvPr>
          <p:cNvSpPr>
            <a:spLocks noGrp="1"/>
          </p:cNvSpPr>
          <p:nvPr/>
        </p:nvSpPr>
        <p:spPr>
          <a:xfrm>
            <a:off x="6781800" y="3676650"/>
            <a:ext cx="1819275" cy="0"/>
          </a:xfrm>
          <a:prstGeom prst="line">
            <a:avLst/>
          </a:prstGeom>
          <a:noFill/>
          <a:ln w="9525">
            <a:solidFill>
              <a:srgbClr val="DCE7E1"/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80A5884-7B3E-4070-8D7E-C6AAE45C6FFB}"/>
              </a:ext>
            </a:extLst>
          </p:cNvPr>
          <p:cNvSpPr>
            <a:spLocks noGrp="1"/>
          </p:cNvSpPr>
          <p:nvPr/>
        </p:nvSpPr>
        <p:spPr>
          <a:xfrm>
            <a:off x="6705600" y="3829050"/>
            <a:ext cx="197167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Interview RAG</a:t>
            </a:r>
          </a:p>
        </p:txBody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C81CB000-D569-4403-A339-569174FA45A2}"/>
              </a:ext>
            </a:extLst>
          </p:cNvPr>
          <p:cNvSpPr>
            <a:spLocks noGrp="1"/>
          </p:cNvSpPr>
          <p:nvPr/>
        </p:nvSpPr>
        <p:spPr>
          <a:xfrm>
            <a:off x="8810625" y="3381375"/>
            <a:ext cx="228600" cy="0"/>
          </a:xfrm>
          <a:prstGeom prst="line">
            <a:avLst/>
          </a:prstGeom>
          <a:noFill/>
          <a:ln w="19050">
            <a:solidFill>
              <a:srgbClr val="16A36A"/>
            </a:solidFill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79C9EBA-4590-4C21-A5D8-BD62FC2314CE}"/>
              </a:ext>
            </a:extLst>
          </p:cNvPr>
          <p:cNvSpPr>
            <a:spLocks noGrp="1"/>
          </p:cNvSpPr>
          <p:nvPr/>
        </p:nvSpPr>
        <p:spPr>
          <a:xfrm>
            <a:off x="9096375" y="1285875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4F6EF7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4F6EF7"/>
                </a:solidFill>
                <a:latin typeface="Nimbus Sans"/>
                <a:ea typeface="Nimbus Sans"/>
                <a:cs typeface="Nimbus Sans"/>
              </a:rPr>
              <a:t>AI + STATE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99E60CB1-74F3-4F9E-984C-CBB689EC65F6}"/>
              </a:ext>
            </a:extLst>
          </p:cNvPr>
          <p:cNvSpPr>
            <a:spLocks noGrp="1"/>
          </p:cNvSpPr>
          <p:nvPr/>
        </p:nvSpPr>
        <p:spPr>
          <a:xfrm>
            <a:off x="9096375" y="1685925"/>
            <a:ext cx="2571750" cy="347662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9781DA6-F10D-43DA-87AA-1FAB65F4520A}"/>
              </a:ext>
            </a:extLst>
          </p:cNvPr>
          <p:cNvSpPr>
            <a:spLocks noGrp="1"/>
          </p:cNvSpPr>
          <p:nvPr/>
        </p:nvSpPr>
        <p:spPr>
          <a:xfrm>
            <a:off x="9229725" y="1885950"/>
            <a:ext cx="23050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Ollama or Gemini</a:t>
            </a:r>
          </a:p>
        </p:txBody>
      </p:sp>
      <p:sp>
        <p:nvSpPr>
          <p:cNvPr id="45" name="Straight Connector 44">
            <a:extLst>
              <a:ext uri="{FF2B5EF4-FFF2-40B4-BE49-F238E27FC236}">
                <a16:creationId xmlns:a16="http://schemas.microsoft.com/office/drawing/2014/main" id="{B69E92D0-8BB9-4FC5-9741-49B1C2EF3607}"/>
              </a:ext>
            </a:extLst>
          </p:cNvPr>
          <p:cNvSpPr>
            <a:spLocks noGrp="1"/>
          </p:cNvSpPr>
          <p:nvPr/>
        </p:nvSpPr>
        <p:spPr>
          <a:xfrm>
            <a:off x="9305925" y="2381250"/>
            <a:ext cx="2152650" cy="0"/>
          </a:xfrm>
          <a:prstGeom prst="line">
            <a:avLst/>
          </a:prstGeom>
          <a:noFill/>
          <a:ln w="9525">
            <a:solidFill>
              <a:srgbClr val="DCE7E1"/>
            </a:solidFill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24DC1CD-15F8-4795-9E3A-AF4246A394D8}"/>
              </a:ext>
            </a:extLst>
          </p:cNvPr>
          <p:cNvSpPr>
            <a:spLocks noGrp="1"/>
          </p:cNvSpPr>
          <p:nvPr/>
        </p:nvSpPr>
        <p:spPr>
          <a:xfrm>
            <a:off x="9229725" y="2533650"/>
            <a:ext cx="23050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SQLite persistence</a:t>
            </a:r>
          </a:p>
        </p:txBody>
      </p:sp>
      <p:sp>
        <p:nvSpPr>
          <p:cNvPr id="47" name="Straight Connector 46">
            <a:extLst>
              <a:ext uri="{FF2B5EF4-FFF2-40B4-BE49-F238E27FC236}">
                <a16:creationId xmlns:a16="http://schemas.microsoft.com/office/drawing/2014/main" id="{D761B32D-37CB-4706-8B74-64FC7830CC73}"/>
              </a:ext>
            </a:extLst>
          </p:cNvPr>
          <p:cNvSpPr>
            <a:spLocks noGrp="1"/>
          </p:cNvSpPr>
          <p:nvPr/>
        </p:nvSpPr>
        <p:spPr>
          <a:xfrm>
            <a:off x="9305925" y="3028950"/>
            <a:ext cx="2152650" cy="0"/>
          </a:xfrm>
          <a:prstGeom prst="line">
            <a:avLst/>
          </a:prstGeom>
          <a:noFill/>
          <a:ln w="9525">
            <a:solidFill>
              <a:srgbClr val="DCE7E1"/>
            </a:solidFill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214B5A9-E19D-46B0-B9EE-D0CA477723D4}"/>
              </a:ext>
            </a:extLst>
          </p:cNvPr>
          <p:cNvSpPr>
            <a:spLocks noGrp="1"/>
          </p:cNvSpPr>
          <p:nvPr/>
        </p:nvSpPr>
        <p:spPr>
          <a:xfrm>
            <a:off x="9229725" y="3181350"/>
            <a:ext cx="23050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In-memory response cache</a:t>
            </a:r>
          </a:p>
        </p:txBody>
      </p:sp>
      <p:sp>
        <p:nvSpPr>
          <p:cNvPr id="49" name="Straight Connector 48">
            <a:extLst>
              <a:ext uri="{FF2B5EF4-FFF2-40B4-BE49-F238E27FC236}">
                <a16:creationId xmlns:a16="http://schemas.microsoft.com/office/drawing/2014/main" id="{CCBC465F-7587-490F-A56A-30E38A9582FF}"/>
              </a:ext>
            </a:extLst>
          </p:cNvPr>
          <p:cNvSpPr>
            <a:spLocks noGrp="1"/>
          </p:cNvSpPr>
          <p:nvPr/>
        </p:nvSpPr>
        <p:spPr>
          <a:xfrm>
            <a:off x="9305925" y="3676650"/>
            <a:ext cx="2152650" cy="0"/>
          </a:xfrm>
          <a:prstGeom prst="line">
            <a:avLst/>
          </a:prstGeom>
          <a:noFill/>
          <a:ln w="9525">
            <a:solidFill>
              <a:srgbClr val="DCE7E1"/>
            </a:solidFill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9EEC956-D78E-4405-BAC0-8B2881FC3260}"/>
              </a:ext>
            </a:extLst>
          </p:cNvPr>
          <p:cNvSpPr>
            <a:spLocks noGrp="1"/>
          </p:cNvSpPr>
          <p:nvPr/>
        </p:nvSpPr>
        <p:spPr>
          <a:xfrm>
            <a:off x="9229725" y="3829050"/>
            <a:ext cx="23050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Gemini or local embeddings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F6EDCA7-8CBB-418F-AB20-63B3A42520BA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617084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617084"/>
                </a:solidFill>
                <a:latin typeface="Nimbus Sans"/>
                <a:ea typeface="Nimbus Sans"/>
                <a:cs typeface="Nimbus Sans"/>
              </a:rPr>
              <a:t>Cloud deployment path verified in the repository: Vercel frontend and Render-ready FastAPI backend.</a:t>
            </a:r>
          </a:p>
        </p:txBody>
      </p:sp>
    </p:spTree>
    <p:extLst>
      <p:ext uri="{BB962C8B-B14F-4D97-AF65-F5344CB8AC3E}">
        <p14:creationId xmlns:p14="http://schemas.microsoft.com/office/powerpoint/2010/main" val="1890857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E4122FF-87E0-4AEA-B64A-80EF5ECC9AD3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9C3F34-4E14-4815-8E9C-F226652FA342}"/>
              </a:ext>
            </a:extLst>
          </p:cNvPr>
          <p:cNvSpPr>
            <a:spLocks noGrp="1"/>
          </p:cNvSpPr>
          <p:nvPr/>
        </p:nvSpPr>
        <p:spPr>
          <a:xfrm>
            <a:off x="952500" y="276225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 algn="l">
              <a:def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AI and efficiency design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D2ECC4AD-8AD3-4636-BFE6-698407E09EA8}"/>
              </a:ext>
            </a:extLst>
          </p:cNvPr>
          <p:cNvSpPr>
            <a:spLocks noGrp="1"/>
          </p:cNvSpPr>
          <p:nvPr/>
        </p:nvSpPr>
        <p:spPr>
          <a:xfrm>
            <a:off x="495300" y="847725"/>
            <a:ext cx="11201400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AFF69D-D905-4A58-9961-6257A937A1E2}"/>
              </a:ext>
            </a:extLst>
          </p:cNvPr>
          <p:cNvSpPr>
            <a:spLocks noGrp="1"/>
          </p:cNvSpPr>
          <p:nvPr/>
        </p:nvSpPr>
        <p:spPr>
          <a:xfrm>
            <a:off x="666750" y="1047750"/>
            <a:ext cx="10001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298" lnSpcReduction="10000"/>
          </a:bodyPr>
          <a:lstStyle/>
          <a:p>
            <a:pPr algn="l">
              <a:defRPr sz="1725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Resume analysis keeps deterministic work local and reserves one structured AI request for the combined evaluation.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2F61FBB-1D53-4374-BA7D-7E989E88C61F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4953000" cy="128587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56C26C-E749-48A5-83E8-209B8933B9CC}"/>
              </a:ext>
            </a:extLst>
          </p:cNvPr>
          <p:cNvSpPr>
            <a:spLocks noGrp="1"/>
          </p:cNvSpPr>
          <p:nvPr/>
        </p:nvSpPr>
        <p:spPr>
          <a:xfrm>
            <a:off x="876300" y="216217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 lnSpcReduction="10000"/>
          </a:bodyPr>
          <a:lstStyle/>
          <a:p>
            <a:pPr algn="l">
              <a:def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LOCAL FIRST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CC9B25-64A6-44A3-8253-6B4C225D5F93}"/>
              </a:ext>
            </a:extLst>
          </p:cNvPr>
          <p:cNvSpPr>
            <a:spLocks noGrp="1"/>
          </p:cNvSpPr>
          <p:nvPr/>
        </p:nvSpPr>
        <p:spPr>
          <a:xfrm>
            <a:off x="876300" y="2505075"/>
            <a:ext cx="45243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Parse PDF or DOCX, extract known skills and projects with deterministic rules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3CC70C4-94FE-4760-938D-B6151FBC2697}"/>
              </a:ext>
            </a:extLst>
          </p:cNvPr>
          <p:cNvSpPr>
            <a:spLocks noGrp="1"/>
          </p:cNvSpPr>
          <p:nvPr/>
        </p:nvSpPr>
        <p:spPr>
          <a:xfrm>
            <a:off x="6143625" y="2000250"/>
            <a:ext cx="4953000" cy="1285875"/>
          </a:xfrm>
          <a:prstGeom prst="roundRect">
            <a:avLst>
              <a:gd name="adj" fmla="val 8889"/>
            </a:avLst>
          </a:prstGeom>
          <a:solidFill>
            <a:srgbClr val="EAF0FF"/>
          </a:solidFill>
          <a:ln w="9525">
            <a:solidFill>
              <a:srgbClr val="4F6EF7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945E40-69A0-4C53-8309-892E549B2ACF}"/>
              </a:ext>
            </a:extLst>
          </p:cNvPr>
          <p:cNvSpPr>
            <a:spLocks noGrp="1"/>
          </p:cNvSpPr>
          <p:nvPr/>
        </p:nvSpPr>
        <p:spPr>
          <a:xfrm>
            <a:off x="6353175" y="216217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 lnSpcReduction="10000"/>
          </a:bodyPr>
          <a:lstStyle/>
          <a:p>
            <a:pPr algn="l">
              <a:defRPr sz="1050" b="1">
                <a:solidFill>
                  <a:srgbClr val="4F6EF7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4F6EF7"/>
                </a:solidFill>
                <a:latin typeface="Nimbus Sans"/>
                <a:ea typeface="Nimbus Sans"/>
                <a:cs typeface="Nimbus Sans"/>
              </a:rPr>
              <a:t>ONE ANALYSIS CALL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D22BB8-5421-4F63-BFE5-91ABA97F5B52}"/>
              </a:ext>
            </a:extLst>
          </p:cNvPr>
          <p:cNvSpPr>
            <a:spLocks noGrp="1"/>
          </p:cNvSpPr>
          <p:nvPr/>
        </p:nvSpPr>
        <p:spPr>
          <a:xfrm>
            <a:off x="6353175" y="2505075"/>
            <a:ext cx="45243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A unified prompt requests score data, missing keywords, strengths, and up to three improvements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6705EED-5BEE-44F2-905F-6DB32F6C459A}"/>
              </a:ext>
            </a:extLst>
          </p:cNvPr>
          <p:cNvSpPr>
            <a:spLocks noGrp="1"/>
          </p:cNvSpPr>
          <p:nvPr/>
        </p:nvSpPr>
        <p:spPr>
          <a:xfrm>
            <a:off x="666750" y="3667125"/>
            <a:ext cx="4953000" cy="128587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545353-C4C8-4C04-99DA-29DB2469A711}"/>
              </a:ext>
            </a:extLst>
          </p:cNvPr>
          <p:cNvSpPr>
            <a:spLocks noGrp="1"/>
          </p:cNvSpPr>
          <p:nvPr/>
        </p:nvSpPr>
        <p:spPr>
          <a:xfrm>
            <a:off x="876300" y="3829050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 lnSpcReduction="10000"/>
          </a:bodyPr>
          <a:lstStyle/>
          <a:p>
            <a:pPr algn="l">
              <a:def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STRICT OUTPUT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59C79F-0635-4B09-B442-81D1E8FF01E4}"/>
              </a:ext>
            </a:extLst>
          </p:cNvPr>
          <p:cNvSpPr>
            <a:spLocks noGrp="1"/>
          </p:cNvSpPr>
          <p:nvPr/>
        </p:nvSpPr>
        <p:spPr>
          <a:xfrm>
            <a:off x="876300" y="4171950"/>
            <a:ext cx="45243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The analyzer expects one JSON object with a defined schema and no extra text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6FD2501-629B-4595-8E61-BFD7402858E3}"/>
              </a:ext>
            </a:extLst>
          </p:cNvPr>
          <p:cNvSpPr>
            <a:spLocks noGrp="1"/>
          </p:cNvSpPr>
          <p:nvPr/>
        </p:nvSpPr>
        <p:spPr>
          <a:xfrm>
            <a:off x="6143625" y="3667125"/>
            <a:ext cx="4953000" cy="128587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BDE5C5-C3B7-4B6D-9F28-8B5E9EB1D75D}"/>
              </a:ext>
            </a:extLst>
          </p:cNvPr>
          <p:cNvSpPr>
            <a:spLocks noGrp="1"/>
          </p:cNvSpPr>
          <p:nvPr/>
        </p:nvSpPr>
        <p:spPr>
          <a:xfrm>
            <a:off x="6353175" y="3829050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 lnSpcReduction="10000"/>
          </a:bodyPr>
          <a:lstStyle/>
          <a:p>
            <a:pPr algn="l">
              <a:def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CACHE HIT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6CE5EF-1535-4239-A4DC-8EABF3F428A4}"/>
              </a:ext>
            </a:extLst>
          </p:cNvPr>
          <p:cNvSpPr>
            <a:spLocks noGrp="1"/>
          </p:cNvSpPr>
          <p:nvPr/>
        </p:nvSpPr>
        <p:spPr>
          <a:xfrm>
            <a:off x="6353175" y="4171950"/>
            <a:ext cx="45243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Repeated identical inputs reuse a stored completed analysis without another AI call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1E7D5E-8F06-47E9-8498-36719110F051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047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algn="l">
              <a:defRPr sz="1050" b="1">
                <a:solidFill>
                  <a:srgbClr val="F4B740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4B740"/>
                </a:solidFill>
                <a:latin typeface="Nimbus Sans"/>
                <a:ea typeface="Nimbus Sans"/>
                <a:cs typeface="Nimbus Sans"/>
              </a:rPr>
              <a:t>Scope note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515189-40A1-4962-907E-2B3BFB78631C}"/>
              </a:ext>
            </a:extLst>
          </p:cNvPr>
          <p:cNvSpPr>
            <a:spLocks noGrp="1"/>
          </p:cNvSpPr>
          <p:nvPr/>
        </p:nvSpPr>
        <p:spPr>
          <a:xfrm>
            <a:off x="1790700" y="5572125"/>
            <a:ext cx="8667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17084"/>
                </a:solidFill>
                <a:latin typeface="Nimbus Sans"/>
                <a:ea typeface="Nimbus Sans"/>
                <a:cs typeface="Nimbus Sans"/>
              </a:rPr>
              <a:t>Provider failover and limited retries exist elsewhere in the shared Gemini client and embedding path.</a:t>
            </a:r>
          </a:p>
        </p:txBody>
      </p:sp>
    </p:spTree>
    <p:extLst>
      <p:ext uri="{BB962C8B-B14F-4D97-AF65-F5344CB8AC3E}">
        <p14:creationId xmlns:p14="http://schemas.microsoft.com/office/powerpoint/2010/main" val="1435910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81E1776-56CA-4FE7-8D5F-C28722B63C90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09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E42B64-C19B-4BA2-AFFC-8A97EA8796C9}"/>
              </a:ext>
            </a:extLst>
          </p:cNvPr>
          <p:cNvSpPr>
            <a:spLocks noGrp="1"/>
          </p:cNvSpPr>
          <p:nvPr/>
        </p:nvSpPr>
        <p:spPr>
          <a:xfrm>
            <a:off x="952500" y="276225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 algn="l">
              <a:def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Where Nexora helps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D5B300F-D971-4BE4-8F35-C72D13293284}"/>
              </a:ext>
            </a:extLst>
          </p:cNvPr>
          <p:cNvSpPr>
            <a:spLocks noGrp="1"/>
          </p:cNvSpPr>
          <p:nvPr/>
        </p:nvSpPr>
        <p:spPr>
          <a:xfrm>
            <a:off x="495300" y="847725"/>
            <a:ext cx="11201400" cy="0"/>
          </a:xfrm>
          <a:prstGeom prst="line">
            <a:avLst/>
          </a:prstGeom>
          <a:noFill/>
          <a:ln w="9525">
            <a:solidFill>
              <a:srgbClr val="DCE7E1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E1FE8B-CC84-4514-A045-F324FF925815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8858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The useful outcome is clearer preparation for a specific role.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A5E595F-BCAB-4846-846E-A616F98521E3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2381250" cy="28575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66BA39-1631-4C6F-AF94-7695E35029CA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808" lnSpcReduction="10000"/>
          </a:bodyPr>
          <a:lstStyle/>
          <a:p>
            <a:pPr algn="l">
              <a:defRPr sz="975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STUDENTS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EEFE60-7BF2-46F0-8015-6CD15A30E762}"/>
              </a:ext>
            </a:extLst>
          </p:cNvPr>
          <p:cNvSpPr>
            <a:spLocks noGrp="1"/>
          </p:cNvSpPr>
          <p:nvPr/>
        </p:nvSpPr>
        <p:spPr>
          <a:xfrm>
            <a:off x="857250" y="2857500"/>
            <a:ext cx="2000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defRPr sz="180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Internship applications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F4C1F7-15EC-40F9-8A56-43345E24A2AE}"/>
              </a:ext>
            </a:extLst>
          </p:cNvPr>
          <p:cNvSpPr>
            <a:spLocks noGrp="1"/>
          </p:cNvSpPr>
          <p:nvPr/>
        </p:nvSpPr>
        <p:spPr>
          <a:xfrm>
            <a:off x="857250" y="3857625"/>
            <a:ext cx="19526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17084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617084"/>
                </a:solidFill>
                <a:latin typeface="Nimbus Sans"/>
                <a:ea typeface="Nimbus Sans"/>
                <a:cs typeface="Nimbus Sans"/>
              </a:rPr>
              <a:t>Find gaps before submitting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B90997-058B-45BC-A4EE-4040D9BBB9AB}"/>
              </a:ext>
            </a:extLst>
          </p:cNvPr>
          <p:cNvSpPr>
            <a:spLocks noGrp="1"/>
          </p:cNvSpPr>
          <p:nvPr/>
        </p:nvSpPr>
        <p:spPr>
          <a:xfrm>
            <a:off x="3448050" y="2114550"/>
            <a:ext cx="2381250" cy="28575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9E7F71-3691-49EE-B3BB-0961335A5201}"/>
              </a:ext>
            </a:extLst>
          </p:cNvPr>
          <p:cNvSpPr>
            <a:spLocks noGrp="1"/>
          </p:cNvSpPr>
          <p:nvPr/>
        </p:nvSpPr>
        <p:spPr>
          <a:xfrm>
            <a:off x="3638550" y="2333625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808" lnSpcReduction="10000"/>
          </a:bodyPr>
          <a:lstStyle/>
          <a:p>
            <a:pPr algn="l">
              <a:defRPr sz="975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FRESH GRADUATES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8B52AC-6C2C-4433-8B9D-73A5A225C12A}"/>
              </a:ext>
            </a:extLst>
          </p:cNvPr>
          <p:cNvSpPr>
            <a:spLocks noGrp="1"/>
          </p:cNvSpPr>
          <p:nvPr/>
        </p:nvSpPr>
        <p:spPr>
          <a:xfrm>
            <a:off x="3638550" y="2857500"/>
            <a:ext cx="2000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Entry-level roles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CC9589-A587-4219-A930-3DE6ECEFF2D3}"/>
              </a:ext>
            </a:extLst>
          </p:cNvPr>
          <p:cNvSpPr>
            <a:spLocks noGrp="1"/>
          </p:cNvSpPr>
          <p:nvPr/>
        </p:nvSpPr>
        <p:spPr>
          <a:xfrm>
            <a:off x="3638550" y="3857625"/>
            <a:ext cx="19526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17084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617084"/>
                </a:solidFill>
                <a:latin typeface="Nimbus Sans"/>
                <a:ea typeface="Nimbus Sans"/>
                <a:cs typeface="Nimbus Sans"/>
              </a:rPr>
              <a:t>Turn projects into stronger evidence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6CE001F-32ED-4B5C-A8A4-339EA2EF168C}"/>
              </a:ext>
            </a:extLst>
          </p:cNvPr>
          <p:cNvSpPr>
            <a:spLocks noGrp="1"/>
          </p:cNvSpPr>
          <p:nvPr/>
        </p:nvSpPr>
        <p:spPr>
          <a:xfrm>
            <a:off x="6229350" y="2114550"/>
            <a:ext cx="2381250" cy="28575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F4C4B5-5FC1-4C4F-996B-B6CE6A071C23}"/>
              </a:ext>
            </a:extLst>
          </p:cNvPr>
          <p:cNvSpPr>
            <a:spLocks noGrp="1"/>
          </p:cNvSpPr>
          <p:nvPr/>
        </p:nvSpPr>
        <p:spPr>
          <a:xfrm>
            <a:off x="6419850" y="2333625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808" lnSpcReduction="10000"/>
          </a:bodyPr>
          <a:lstStyle/>
          <a:p>
            <a:pPr algn="l">
              <a:defRPr sz="975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JOB SEEKERS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2C9B0F-DFFF-4F21-87C6-57D050A5F0FB}"/>
              </a:ext>
            </a:extLst>
          </p:cNvPr>
          <p:cNvSpPr>
            <a:spLocks noGrp="1"/>
          </p:cNvSpPr>
          <p:nvPr/>
        </p:nvSpPr>
        <p:spPr>
          <a:xfrm>
            <a:off x="6419850" y="2857500"/>
            <a:ext cx="2000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defRPr sz="1800" b="1">
                <a:solidFill>
                  <a:srgbClr val="10233F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0233F"/>
                </a:solidFill>
                <a:latin typeface="Nimbus Sans"/>
                <a:ea typeface="Nimbus Sans"/>
                <a:cs typeface="Nimbus Sans"/>
              </a:rPr>
              <a:t>Role-specific applications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5E3AF4-20C7-4C08-8AA2-DD9A0B4C8ADD}"/>
              </a:ext>
            </a:extLst>
          </p:cNvPr>
          <p:cNvSpPr>
            <a:spLocks noGrp="1"/>
          </p:cNvSpPr>
          <p:nvPr/>
        </p:nvSpPr>
        <p:spPr>
          <a:xfrm>
            <a:off x="6419850" y="3857625"/>
            <a:ext cx="19526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17084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617084"/>
                </a:solidFill>
                <a:latin typeface="Nimbus Sans"/>
                <a:ea typeface="Nimbus Sans"/>
                <a:cs typeface="Nimbus Sans"/>
              </a:rPr>
              <a:t>Tailor the resume to each description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FC28A0E-6861-4033-8E5D-9EF90F45FF2E}"/>
              </a:ext>
            </a:extLst>
          </p:cNvPr>
          <p:cNvSpPr>
            <a:spLocks noGrp="1"/>
          </p:cNvSpPr>
          <p:nvPr/>
        </p:nvSpPr>
        <p:spPr>
          <a:xfrm>
            <a:off x="9010650" y="2114550"/>
            <a:ext cx="2381250" cy="2857500"/>
          </a:xfrm>
          <a:prstGeom prst="roundRect">
            <a:avLst>
              <a:gd name="adj" fmla="val 4800"/>
            </a:avLst>
          </a:prstGeom>
          <a:solidFill>
            <a:srgbClr val="10233F"/>
          </a:solidFill>
          <a:ln w="9525">
            <a:solidFill>
              <a:srgbClr val="10233F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13DEC3-3AFE-4FFD-A376-D89603029EBA}"/>
              </a:ext>
            </a:extLst>
          </p:cNvPr>
          <p:cNvSpPr>
            <a:spLocks noGrp="1"/>
          </p:cNvSpPr>
          <p:nvPr/>
        </p:nvSpPr>
        <p:spPr>
          <a:xfrm>
            <a:off x="9201150" y="2333625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808" lnSpcReduction="10000"/>
          </a:bodyPr>
          <a:lstStyle/>
          <a:p>
            <a:pPr algn="l">
              <a:defRPr sz="975" b="1">
                <a:solidFill>
                  <a:srgbClr val="68D39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68D391"/>
                </a:solidFill>
                <a:latin typeface="Nimbus Sans"/>
                <a:ea typeface="Nimbus Sans"/>
                <a:cs typeface="Nimbus Sans"/>
              </a:rPr>
              <a:t>CANDIDATES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01DEDB-24BF-4FB8-902B-2D71C8EFECFF}"/>
              </a:ext>
            </a:extLst>
          </p:cNvPr>
          <p:cNvSpPr>
            <a:spLocks noGrp="1"/>
          </p:cNvSpPr>
          <p:nvPr/>
        </p:nvSpPr>
        <p:spPr>
          <a:xfrm>
            <a:off x="9201150" y="2857500"/>
            <a:ext cx="2000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defRPr sz="18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Interview preparation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E6C291-651C-4AA9-BCF6-CA5164F0194F}"/>
              </a:ext>
            </a:extLst>
          </p:cNvPr>
          <p:cNvSpPr>
            <a:spLocks noGrp="1"/>
          </p:cNvSpPr>
          <p:nvPr/>
        </p:nvSpPr>
        <p:spPr>
          <a:xfrm>
            <a:off x="9201150" y="3857625"/>
            <a:ext cx="19526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126"/>
          </a:bodyPr>
          <a:lstStyle/>
          <a:p>
            <a:pPr algn="l">
              <a:defRPr sz="1275" b="0">
                <a:solidFill>
                  <a:srgbClr val="D7E0E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D7E0ED"/>
                </a:solidFill>
                <a:latin typeface="Nimbus Sans"/>
                <a:ea typeface="Nimbus Sans"/>
                <a:cs typeface="Nimbus Sans"/>
              </a:rPr>
              <a:t>Practise questions grounded in their resume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15996F-B314-4214-A60B-66803AC06CE4}"/>
              </a:ext>
            </a:extLst>
          </p:cNvPr>
          <p:cNvSpPr>
            <a:spLocks noGrp="1"/>
          </p:cNvSpPr>
          <p:nvPr/>
        </p:nvSpPr>
        <p:spPr>
          <a:xfrm>
            <a:off x="666750" y="565785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6A36A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16A36A"/>
                </a:solidFill>
                <a:latin typeface="Nimbus Sans"/>
                <a:ea typeface="Nimbus Sans"/>
                <a:cs typeface="Nimbus Sans"/>
              </a:rPr>
              <a:t>Practical value: less guesswork and a clearer next action.</a:t>
            </a:r>
          </a:p>
        </p:txBody>
      </p:sp>
    </p:spTree>
    <p:extLst>
      <p:ext uri="{BB962C8B-B14F-4D97-AF65-F5344CB8AC3E}">
        <p14:creationId xmlns:p14="http://schemas.microsoft.com/office/powerpoint/2010/main" val="272124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7A8BE2E-F603-4518-92F8-DC68005AB1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B012E9-D21F-4789-BDBA-309DD9D7DC2B}"/>
              </a:ext>
            </a:extLst>
          </p:cNvPr>
          <p:cNvSpPr>
            <a:spLocks noGrp="1"/>
          </p:cNvSpPr>
          <p:nvPr/>
        </p:nvSpPr>
        <p:spPr>
          <a:xfrm>
            <a:off x="704850" y="55245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68D39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68D391"/>
                </a:solidFill>
                <a:latin typeface="Nimbus Sans"/>
                <a:ea typeface="Nimbus Sans"/>
                <a:cs typeface="Nimbus Sans"/>
              </a:rPr>
              <a:t>NEXORA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4D2754-3E4F-4DFE-BCEA-41427DA97DFB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6572250" cy="1428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6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Build stronger applications.</a:t>
            </a:r>
          </a:p>
          <a:p>
            <a:pPr algn="l">
              <a:defRPr sz="36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6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Prepare with clarity.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40460D-E7E3-47E0-958E-87F2D6464BED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647700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D7E0ED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D7E0ED"/>
                </a:solidFill>
                <a:latin typeface="Nimbus Sans"/>
                <a:ea typeface="Nimbus Sans"/>
                <a:cs typeface="Nimbus Sans"/>
              </a:rPr>
              <a:t>Nexora turns resume and role evidence into practical improvements, then carries that context into interview preparation.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D18016E-5401-4D76-82AA-E349DF2F7EA9}"/>
              </a:ext>
            </a:extLst>
          </p:cNvPr>
          <p:cNvSpPr>
            <a:spLocks noGrp="1"/>
          </p:cNvSpPr>
          <p:nvPr/>
        </p:nvSpPr>
        <p:spPr>
          <a:xfrm>
            <a:off x="7829550" y="1009650"/>
            <a:ext cx="3619500" cy="4457700"/>
          </a:xfrm>
          <a:prstGeom prst="roundRect">
            <a:avLst>
              <a:gd name="adj" fmla="val 3158"/>
            </a:avLst>
          </a:prstGeom>
          <a:solidFill>
            <a:srgbClr val="17304F"/>
          </a:solidFill>
          <a:ln w="9525">
            <a:solidFill>
              <a:srgbClr val="29456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18C732-AAD3-4538-AC8E-4D022BBBB9B3}"/>
              </a:ext>
            </a:extLst>
          </p:cNvPr>
          <p:cNvSpPr>
            <a:spLocks noGrp="1"/>
          </p:cNvSpPr>
          <p:nvPr/>
        </p:nvSpPr>
        <p:spPr>
          <a:xfrm>
            <a:off x="8172450" y="13716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68D391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68D391"/>
                </a:solidFill>
                <a:latin typeface="Nimbus Sans"/>
                <a:ea typeface="Nimbus Sans"/>
                <a:cs typeface="Nimbus Sans"/>
              </a:rPr>
              <a:t>TRY NEXORA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B77824-6E05-451D-BFFE-9B3AF857C389}"/>
              </a:ext>
            </a:extLst>
          </p:cNvPr>
          <p:cNvSpPr>
            <a:spLocks noGrp="1"/>
          </p:cNvSpPr>
          <p:nvPr/>
        </p:nvSpPr>
        <p:spPr>
          <a:xfrm>
            <a:off x="8172450" y="1952625"/>
            <a:ext cx="27622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 algn="l">
              <a:defRPr sz="1125" b="0">
                <a:solidFill>
                  <a:srgbClr val="AFC0D7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AFC0D7"/>
                </a:solidFill>
                <a:latin typeface="Nimbus Sans"/>
                <a:ea typeface="Nimbus Sans"/>
                <a:cs typeface="Nimbus Sans"/>
              </a:rPr>
              <a:t>Live application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59149F-08E6-4118-BBF2-83DF232D4499}"/>
              </a:ext>
            </a:extLst>
          </p:cNvPr>
          <p:cNvSpPr>
            <a:spLocks noGrp="1"/>
          </p:cNvSpPr>
          <p:nvPr/>
        </p:nvSpPr>
        <p:spPr>
          <a:xfrm>
            <a:off x="8172450" y="2266950"/>
            <a:ext cx="28384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nexora-blue-rho.vercel.app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982C49-90A9-4CF8-95EC-A68D9409D52F}"/>
              </a:ext>
            </a:extLst>
          </p:cNvPr>
          <p:cNvSpPr>
            <a:spLocks noGrp="1"/>
          </p:cNvSpPr>
          <p:nvPr/>
        </p:nvSpPr>
        <p:spPr>
          <a:xfrm>
            <a:off x="8172450" y="3162300"/>
            <a:ext cx="27622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 algn="l">
              <a:defRPr sz="1125" b="0">
                <a:solidFill>
                  <a:srgbClr val="AFC0D7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AFC0D7"/>
                </a:solidFill>
                <a:latin typeface="Nimbus Sans"/>
                <a:ea typeface="Nimbus Sans"/>
                <a:cs typeface="Nimbus Sans"/>
              </a:rPr>
              <a:t>GitHub repository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613019-397B-4D3C-8A40-EE97B0ABBD42}"/>
              </a:ext>
            </a:extLst>
          </p:cNvPr>
          <p:cNvSpPr>
            <a:spLocks noGrp="1"/>
          </p:cNvSpPr>
          <p:nvPr/>
        </p:nvSpPr>
        <p:spPr>
          <a:xfrm>
            <a:off x="8172450" y="3476625"/>
            <a:ext cx="28384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github.com/Umama2007/Nexora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FF2807B-D800-4BD9-9BFE-776EE54BA4D4}"/>
              </a:ext>
            </a:extLst>
          </p:cNvPr>
          <p:cNvSpPr>
            <a:spLocks noGrp="1"/>
          </p:cNvSpPr>
          <p:nvPr/>
        </p:nvSpPr>
        <p:spPr>
          <a:xfrm>
            <a:off x="742950" y="4953000"/>
            <a:ext cx="1476375" cy="323850"/>
          </a:xfrm>
          <a:prstGeom prst="roundRect">
            <a:avLst>
              <a:gd name="adj" fmla="val 35294"/>
            </a:avLst>
          </a:prstGeom>
          <a:solidFill>
            <a:srgbClr val="16A36A"/>
          </a:solidFill>
          <a:ln w="9525">
            <a:solidFill>
              <a:srgbClr val="16A36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25557D-F95A-4D7F-A321-1EA49AD206B3}"/>
              </a:ext>
            </a:extLst>
          </p:cNvPr>
          <p:cNvSpPr>
            <a:spLocks noGrp="1"/>
          </p:cNvSpPr>
          <p:nvPr/>
        </p:nvSpPr>
        <p:spPr>
          <a:xfrm>
            <a:off x="838200" y="4972050"/>
            <a:ext cx="12858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THANK YOU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376F32-B194-46AC-B0AD-C85F833B9D39}"/>
              </a:ext>
            </a:extLst>
          </p:cNvPr>
          <p:cNvSpPr>
            <a:spLocks noGrp="1"/>
          </p:cNvSpPr>
          <p:nvPr/>
        </p:nvSpPr>
        <p:spPr>
          <a:xfrm>
            <a:off x="742950" y="5476875"/>
            <a:ext cx="5810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68D391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68D391"/>
                </a:solidFill>
                <a:latin typeface="Nimbus Sans"/>
                <a:ea typeface="Nimbus Sans"/>
                <a:cs typeface="Nimbus Sans"/>
              </a:rPr>
              <a:t>From uncertainty to a clear next step.</a:t>
            </a:r>
          </a:p>
        </p:txBody>
      </p:sp>
    </p:spTree>
    <p:extLst>
      <p:ext uri="{BB962C8B-B14F-4D97-AF65-F5344CB8AC3E}">
        <p14:creationId xmlns:p14="http://schemas.microsoft.com/office/powerpoint/2010/main" val="96421759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840</Words>
  <Application>Microsoft Office PowerPoint</Application>
  <DocSecurity>0</DocSecurity>
  <PresentationFormat>Widescreen</PresentationFormat>
  <Paragraphs>171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Nimbus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MC</cp:lastModifiedBy>
  <cp:revision>1</cp:revision>
  <dcterms:created xsi:type="dcterms:W3CDTF">2026-09-10T07:29:22Z</dcterms:created>
  <dcterms:modified xsi:type="dcterms:W3CDTF">2026-09-10T07:38:06Z</dcterms:modified>
</cp:coreProperties>
</file>